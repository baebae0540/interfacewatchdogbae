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9931" autoAdjust="0"/>
  </p:normalViewPr>
  <p:slideViewPr>
    <p:cSldViewPr snapToGrid="0">
      <p:cViewPr varScale="1">
        <p:scale>
          <a:sx n="93" d="100"/>
          <a:sy n="93" d="100"/>
        </p:scale>
        <p:origin x="1236" y="90"/>
      </p:cViewPr>
      <p:guideLst/>
    </p:cSldViewPr>
  </p:slideViewPr>
  <p:notesTextViewPr>
    <p:cViewPr>
      <p:scale>
        <a:sx n="1" d="1"/>
        <a:sy n="1" d="1"/>
      </p:scale>
      <p:origin x="0" y="-1146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2706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200" dirty="0"/>
              <a:t>이 프로그램은 공장에서 사용하는 두 가지 인터페이스 프로그램이 정상적으로 동작하는지 감시하는 프로그램입니다.</a:t>
            </a:r>
          </a:p>
          <a:p>
            <a:endParaRPr lang="ko-KR" sz="1200" dirty="0"/>
          </a:p>
          <a:p>
            <a:r>
              <a:rPr lang="ko-KR" sz="1200" dirty="0"/>
              <a:t>ERWEKA </a:t>
            </a:r>
            <a:r>
              <a:rPr lang="ko-KR" sz="1200" dirty="0" err="1"/>
              <a:t>Export</a:t>
            </a:r>
            <a:r>
              <a:rPr lang="ko-KR" sz="1200" dirty="0"/>
              <a:t> </a:t>
            </a:r>
            <a:r>
              <a:rPr lang="ko-KR" sz="1200" dirty="0" err="1"/>
              <a:t>Manager</a:t>
            </a:r>
            <a:r>
              <a:rPr lang="ko-KR" sz="1200" dirty="0"/>
              <a:t>: 제약 장비에서 측정 데이터를 내보내는 </a:t>
            </a:r>
            <a:r>
              <a:rPr lang="ko-KR" sz="1200" dirty="0" err="1"/>
              <a:t>Java</a:t>
            </a:r>
            <a:r>
              <a:rPr lang="ko-KR" sz="1200" dirty="0"/>
              <a:t> 기반 프로그램입니다.</a:t>
            </a:r>
          </a:p>
          <a:p>
            <a:r>
              <a:rPr lang="ko-KR" sz="1200" dirty="0" err="1"/>
              <a:t>TabmachineIF</a:t>
            </a:r>
            <a:r>
              <a:rPr lang="ko-KR" sz="1200" dirty="0"/>
              <a:t>: </a:t>
            </a:r>
            <a:r>
              <a:rPr lang="ko-KR" altLang="ko-KR" sz="1200" dirty="0" err="1"/>
              <a:t>Export</a:t>
            </a:r>
            <a:r>
              <a:rPr lang="ko-KR" altLang="ko-KR" sz="1200" dirty="0"/>
              <a:t> </a:t>
            </a:r>
            <a:r>
              <a:rPr lang="ko-KR" altLang="ko-KR" sz="1200" dirty="0" err="1"/>
              <a:t>Manager</a:t>
            </a:r>
            <a:r>
              <a:rPr lang="ko-KR" altLang="en-US" sz="1200" dirty="0" err="1"/>
              <a:t>로</a:t>
            </a:r>
            <a:r>
              <a:rPr lang="ko-KR" altLang="en-US" sz="1200" dirty="0"/>
              <a:t> 만들어진 </a:t>
            </a:r>
            <a:r>
              <a:rPr lang="en-US" altLang="ko-KR" sz="1200" dirty="0"/>
              <a:t>Pdf </a:t>
            </a:r>
            <a:r>
              <a:rPr lang="ko-KR" altLang="en-US" sz="1200" dirty="0"/>
              <a:t>파일을 </a:t>
            </a:r>
            <a:r>
              <a:rPr lang="en-US" altLang="ko-KR" sz="1200" dirty="0"/>
              <a:t>DB</a:t>
            </a:r>
            <a:r>
              <a:rPr lang="ko-KR" altLang="en-US" sz="1200" dirty="0"/>
              <a:t>로 변환해주는</a:t>
            </a:r>
            <a:r>
              <a:rPr lang="ko-KR" sz="1200" dirty="0"/>
              <a:t> 인터페이스 프로그램입니다.</a:t>
            </a:r>
          </a:p>
          <a:p>
            <a:endParaRPr lang="ko-KR" sz="1200" dirty="0"/>
          </a:p>
          <a:p>
            <a:r>
              <a:rPr lang="ko-KR" sz="1200" dirty="0"/>
              <a:t>이 두 프로그램이 갑자기 꺼지면 생산 데이터가 유실될 수 있기 때문에,</a:t>
            </a:r>
          </a:p>
          <a:p>
            <a:r>
              <a:rPr lang="ko-KR" sz="1200" dirty="0" err="1"/>
              <a:t>InterfaceWatchDog가</a:t>
            </a:r>
            <a:r>
              <a:rPr lang="ko-KR" sz="1200" dirty="0"/>
              <a:t> 주기적으로 확인하고 문제가 생기면 자동으로 </a:t>
            </a:r>
            <a:r>
              <a:rPr lang="ko-KR" sz="1200" dirty="0" err="1"/>
              <a:t>재시작하거나</a:t>
            </a:r>
            <a:r>
              <a:rPr lang="ko-KR" sz="1200" dirty="0"/>
              <a:t> 알람을 보냅니다.</a:t>
            </a:r>
          </a:p>
          <a:p>
            <a:endParaRPr lang="ko-KR" sz="1200" dirty="0"/>
          </a:p>
          <a:p>
            <a:r>
              <a:rPr lang="ko-KR" sz="1200" dirty="0"/>
              <a:t>이 </a:t>
            </a:r>
            <a:r>
              <a:rPr lang="ko-KR" sz="1200" dirty="0" err="1"/>
              <a:t>PPT는</a:t>
            </a:r>
            <a:r>
              <a:rPr lang="ko-KR" sz="1200" dirty="0"/>
              <a:t> 이 프로그램을 앞으로 </a:t>
            </a:r>
            <a:r>
              <a:rPr lang="ko-KR" sz="1200" dirty="0" err="1"/>
              <a:t>유지보수할</a:t>
            </a:r>
            <a:r>
              <a:rPr lang="ko-KR" sz="1200" dirty="0"/>
              <a:t> 개발자를 위한 기술 인수인계 자료입니다.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200" dirty="0"/>
              <a:t>1. 시스템 아키텍처: 프로그램이 어떤 구조로 되어 있는지 큰 그림을 봅니다.</a:t>
            </a:r>
          </a:p>
          <a:p>
            <a:r>
              <a:rPr lang="ko-KR" sz="1200" dirty="0"/>
              <a:t>2. 코드 구조: 소스 코드 폴더와 파일이 어떻게 나뉘어 있는지, 수정할 때 어디를 봐야 하는지 알려드립니다.</a:t>
            </a:r>
          </a:p>
          <a:p>
            <a:r>
              <a:rPr lang="ko-KR" sz="1200" dirty="0"/>
              <a:t>3. 핵심 로직: 감시 → 장애 감지 → 재시작 → 알람까지의 동작 흐름을 설명합니다.</a:t>
            </a:r>
          </a:p>
          <a:p>
            <a:r>
              <a:rPr lang="ko-KR" sz="1200" dirty="0"/>
              <a:t>4. 빌드/배포: 소스 코드를 실행 파일로 만들고 현장에 배포하는 방법입니다.</a:t>
            </a:r>
          </a:p>
          <a:p>
            <a:r>
              <a:rPr lang="ko-KR" sz="1200" dirty="0"/>
              <a:t>5. 유지보수: 운영 중 자주 확인하게 될 경로와 새 기능 추가 시 수정해야 할 파일들입니다.</a:t>
            </a:r>
          </a:p>
          <a:p>
            <a:endParaRPr lang="ko-KR" sz="1200" dirty="0"/>
          </a:p>
          <a:p>
            <a:r>
              <a:rPr lang="ko-KR" sz="1200" dirty="0"/>
              <a:t>상세 내용은 Docs/HANDOVER.md 문서에도 정리되어 있으니 함께 참고하세요.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200" dirty="0"/>
              <a:t>[감시프로그램 모드]</a:t>
            </a:r>
          </a:p>
          <a:p>
            <a:r>
              <a:rPr lang="ko-KR" sz="1200" dirty="0"/>
              <a:t>사용자가 Windows에 로그인한 상태에서 실행됩니다.</a:t>
            </a:r>
          </a:p>
          <a:p>
            <a:r>
              <a:rPr lang="ko-KR" sz="1200" dirty="0"/>
              <a:t>화면 오른쪽 아래 시스템 트레이에 아이콘이 표시되고, 대시보드도 볼 수 있습니다.</a:t>
            </a:r>
          </a:p>
          <a:p>
            <a:endParaRPr lang="ko-KR" sz="1200" dirty="0"/>
          </a:p>
          <a:p>
            <a:r>
              <a:rPr lang="ko-KR" sz="1200" dirty="0"/>
              <a:t>[Windows 서비스 모드]</a:t>
            </a:r>
          </a:p>
          <a:p>
            <a:r>
              <a:rPr lang="ko-KR" sz="1200" dirty="0" err="1"/>
              <a:t>PC가</a:t>
            </a:r>
            <a:r>
              <a:rPr lang="ko-KR" sz="1200" dirty="0"/>
              <a:t> 켜지면 아무도 로그인하지 않아도 자동으로 시작됩니다.</a:t>
            </a:r>
          </a:p>
          <a:p>
            <a:r>
              <a:rPr lang="ko-KR" sz="1200" dirty="0"/>
              <a:t>하지만 "</a:t>
            </a:r>
            <a:r>
              <a:rPr lang="ko-KR" sz="1200" dirty="0" err="1"/>
              <a:t>Session</a:t>
            </a:r>
            <a:r>
              <a:rPr lang="ko-KR" sz="1200" dirty="0"/>
              <a:t> 0"이라는 특별한 영역에서 실행되기 때문에 화면에 아무것도 표시할 수 없고,</a:t>
            </a:r>
          </a:p>
          <a:p>
            <a:r>
              <a:rPr lang="ko-KR" sz="1200" dirty="0"/>
              <a:t>다른 프로그램을 실행시켜도 사용자 화면에 나타나지 않습니다.</a:t>
            </a:r>
          </a:p>
          <a:p>
            <a:endParaRPr lang="ko-KR" sz="1200" dirty="0"/>
          </a:p>
          <a:p>
            <a:r>
              <a:rPr lang="ko-KR" sz="1200" dirty="0"/>
              <a:t>[왜 둘 다 필요한가?]</a:t>
            </a:r>
          </a:p>
          <a:p>
            <a:r>
              <a:rPr lang="ko-KR" sz="1200" dirty="0"/>
              <a:t>서비스가 PC 부팅 시 바로 감시를 시작하고,</a:t>
            </a:r>
          </a:p>
          <a:p>
            <a:r>
              <a:rPr lang="ko-KR" sz="1200" dirty="0"/>
              <a:t>사용자가 로그인하면 감시프로그램이 실제 재시작을 처리합니다.</a:t>
            </a:r>
          </a:p>
          <a:p>
            <a:r>
              <a:rPr lang="ko-KR" sz="1200" dirty="0"/>
              <a:t>두 모드는 같은 설정 파일(</a:t>
            </a:r>
            <a:r>
              <a:rPr lang="ko-KR" sz="1200" dirty="0" err="1"/>
              <a:t>config.json</a:t>
            </a:r>
            <a:r>
              <a:rPr lang="ko-KR" sz="1200" dirty="0"/>
              <a:t>, </a:t>
            </a:r>
            <a:r>
              <a:rPr lang="ko-KR" sz="1200" dirty="0" err="1"/>
              <a:t>dbconfig.json</a:t>
            </a:r>
            <a:r>
              <a:rPr lang="ko-KR" sz="1200" dirty="0"/>
              <a:t>)을 공유합니다.</a:t>
            </a:r>
          </a:p>
          <a:p>
            <a:endParaRPr lang="ko-KR" sz="1200" dirty="0"/>
          </a:p>
          <a:p>
            <a:r>
              <a:rPr lang="ko-KR" sz="1200" dirty="0"/>
              <a:t>[공유 리소스 경로]</a:t>
            </a:r>
          </a:p>
          <a:p>
            <a:r>
              <a:rPr lang="ko-KR" sz="1200" dirty="0"/>
              <a:t>설정과 로그는 C:\ProgramData\InterfaceWatchDog\ </a:t>
            </a:r>
            <a:r>
              <a:rPr lang="ko-KR" sz="1200" dirty="0" err="1"/>
              <a:t>에</a:t>
            </a:r>
            <a:r>
              <a:rPr lang="ko-KR" sz="1200" dirty="0"/>
              <a:t> 저장됩니다.</a:t>
            </a:r>
          </a:p>
          <a:p>
            <a:r>
              <a:rPr lang="ko-KR" sz="1200" dirty="0"/>
              <a:t>이 경로는 모든 사용자와 서비스가 접근할 수 있는 공용 폴더입니다.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200" dirty="0"/>
              <a:t>[</a:t>
            </a:r>
            <a:r>
              <a:rPr lang="ko-KR" sz="1200" dirty="0" err="1"/>
              <a:t>Core</a:t>
            </a:r>
            <a:r>
              <a:rPr lang="ko-KR" sz="1200" dirty="0"/>
              <a:t> 폴더 — 프로그램의 두뇌]</a:t>
            </a:r>
          </a:p>
          <a:p>
            <a:r>
              <a:rPr lang="ko-KR" sz="1200" dirty="0" err="1"/>
              <a:t>WatchDogEngine.cs가</a:t>
            </a:r>
            <a:r>
              <a:rPr lang="ko-KR" sz="1200" dirty="0"/>
              <a:t> 가장 핵심입니다. 타이머 3개를 돌려서 ERWEKA, </a:t>
            </a:r>
            <a:r>
              <a:rPr lang="ko-KR" sz="1200" dirty="0" err="1"/>
              <a:t>TabmachineIF</a:t>
            </a:r>
            <a:r>
              <a:rPr lang="ko-KR" sz="1200" dirty="0"/>
              <a:t>, PDF 폴더를 각각 독립적으로 감시합니다.</a:t>
            </a:r>
          </a:p>
          <a:p>
            <a:r>
              <a:rPr lang="ko-KR" sz="1200" dirty="0" err="1"/>
              <a:t>ProcessMatcher.cs는</a:t>
            </a:r>
            <a:r>
              <a:rPr lang="ko-KR" sz="1200" dirty="0"/>
              <a:t> "이 프로세스가 진짜 우리가 찾는 프로세스인가?"</a:t>
            </a:r>
            <a:r>
              <a:rPr lang="ko-KR" sz="1200" dirty="0" err="1"/>
              <a:t>를</a:t>
            </a:r>
            <a:r>
              <a:rPr lang="ko-KR" sz="1200" dirty="0"/>
              <a:t> 판별합니다.</a:t>
            </a:r>
          </a:p>
          <a:p>
            <a:r>
              <a:rPr lang="ko-KR" sz="1200" dirty="0"/>
              <a:t>예를 들어 </a:t>
            </a:r>
            <a:r>
              <a:rPr lang="ko-KR" sz="1200" dirty="0" err="1"/>
              <a:t>javaw.exe가</a:t>
            </a:r>
            <a:r>
              <a:rPr lang="ko-KR" sz="1200" dirty="0"/>
              <a:t> 여러 개 실행 중일 때, </a:t>
            </a:r>
            <a:r>
              <a:rPr lang="ko-KR" sz="1200" dirty="0" err="1"/>
              <a:t>명령줄</a:t>
            </a:r>
            <a:r>
              <a:rPr lang="ko-KR" sz="1200" dirty="0"/>
              <a:t> 인수를 비교해서 </a:t>
            </a:r>
            <a:r>
              <a:rPr lang="ko-KR" sz="1200" dirty="0" err="1"/>
              <a:t>ERWEKA만</a:t>
            </a:r>
            <a:r>
              <a:rPr lang="ko-KR" sz="1200" dirty="0"/>
              <a:t> 골라냅니다.</a:t>
            </a:r>
          </a:p>
          <a:p>
            <a:r>
              <a:rPr lang="ko-KR" sz="1200" dirty="0" err="1"/>
              <a:t>RestartTracker.cs는</a:t>
            </a:r>
            <a:r>
              <a:rPr lang="ko-KR" sz="1200" dirty="0"/>
              <a:t> "재시작을 몇 번 시도했나, </a:t>
            </a:r>
            <a:r>
              <a:rPr lang="ko-KR" sz="1200" dirty="0" err="1"/>
              <a:t>쿨다운</a:t>
            </a:r>
            <a:r>
              <a:rPr lang="ko-KR" sz="1200" dirty="0"/>
              <a:t> 시간이 </a:t>
            </a:r>
            <a:r>
              <a:rPr lang="ko-KR" sz="1200" dirty="0" err="1"/>
              <a:t>지났나"를</a:t>
            </a:r>
            <a:r>
              <a:rPr lang="ko-KR" sz="1200" dirty="0"/>
              <a:t> 추적합니다.</a:t>
            </a:r>
          </a:p>
          <a:p>
            <a:endParaRPr lang="ko-KR" sz="1200" dirty="0"/>
          </a:p>
          <a:p>
            <a:r>
              <a:rPr lang="ko-KR" sz="1200" dirty="0"/>
              <a:t>[</a:t>
            </a:r>
            <a:r>
              <a:rPr lang="ko-KR" sz="1200" dirty="0" err="1"/>
              <a:t>Actions</a:t>
            </a:r>
            <a:r>
              <a:rPr lang="ko-KR" sz="1200" dirty="0"/>
              <a:t> 폴더 — 실제로 뭔가를 하는 클래스들]</a:t>
            </a:r>
          </a:p>
          <a:p>
            <a:r>
              <a:rPr lang="ko-KR" sz="1200" dirty="0" err="1"/>
              <a:t>ProcessRestarter</a:t>
            </a:r>
            <a:r>
              <a:rPr lang="ko-KR" sz="1200" dirty="0"/>
              <a:t>: 프로세스를 죽이고 새로 실행합니다.</a:t>
            </a:r>
          </a:p>
          <a:p>
            <a:r>
              <a:rPr lang="ko-KR" sz="1200" dirty="0" err="1"/>
              <a:t>AlarmWriter</a:t>
            </a:r>
            <a:r>
              <a:rPr lang="ko-KR" sz="1200" dirty="0"/>
              <a:t>: </a:t>
            </a:r>
            <a:r>
              <a:rPr lang="ko-KR" sz="1200" dirty="0" err="1"/>
              <a:t>DB의</a:t>
            </a:r>
            <a:r>
              <a:rPr lang="ko-KR" sz="1200" dirty="0"/>
              <a:t> SYS_ALARM 테이블에 알람을 기록합니다.</a:t>
            </a:r>
          </a:p>
          <a:p>
            <a:r>
              <a:rPr lang="ko-KR" sz="1200" dirty="0" err="1"/>
              <a:t>LogWriter</a:t>
            </a:r>
            <a:r>
              <a:rPr lang="ko-KR" sz="1200" dirty="0"/>
              <a:t>: 매일 새 로그 파일을 만들어 기록합니다.</a:t>
            </a:r>
          </a:p>
          <a:p>
            <a:endParaRPr lang="ko-KR" sz="1200" dirty="0"/>
          </a:p>
          <a:p>
            <a:r>
              <a:rPr lang="ko-KR" sz="1200" dirty="0"/>
              <a:t>[</a:t>
            </a:r>
            <a:r>
              <a:rPr lang="ko-KR" sz="1200" dirty="0" err="1"/>
              <a:t>Models</a:t>
            </a:r>
            <a:r>
              <a:rPr lang="ko-KR" sz="1200" dirty="0"/>
              <a:t> 폴더 — 데이터 구조]</a:t>
            </a:r>
          </a:p>
          <a:p>
            <a:r>
              <a:rPr lang="ko-KR" sz="1200" dirty="0" err="1"/>
              <a:t>AppConfig</a:t>
            </a:r>
            <a:r>
              <a:rPr lang="ko-KR" sz="1200" dirty="0"/>
              <a:t>: </a:t>
            </a:r>
            <a:r>
              <a:rPr lang="ko-KR" sz="1200" dirty="0" err="1"/>
              <a:t>config.json의</a:t>
            </a:r>
            <a:r>
              <a:rPr lang="ko-KR" sz="1200" dirty="0"/>
              <a:t> 내용을 담는 클래스입니다.</a:t>
            </a:r>
          </a:p>
          <a:p>
            <a:r>
              <a:rPr lang="ko-KR" sz="1200" dirty="0" err="1"/>
              <a:t>ProgramStatus</a:t>
            </a:r>
            <a:r>
              <a:rPr lang="ko-KR" sz="1200" dirty="0"/>
              <a:t>: 각 프로그램의 현재 상태(정상/경고/</a:t>
            </a:r>
            <a:r>
              <a:rPr lang="ko-KR" sz="1200" dirty="0" err="1"/>
              <a:t>재시작중</a:t>
            </a:r>
            <a:r>
              <a:rPr lang="ko-KR" sz="1200" dirty="0"/>
              <a:t>/실패 등)</a:t>
            </a:r>
            <a:r>
              <a:rPr lang="ko-KR" sz="1200" dirty="0" err="1"/>
              <a:t>를</a:t>
            </a:r>
            <a:r>
              <a:rPr lang="ko-KR" sz="1200" dirty="0"/>
              <a:t> 담습니다.</a:t>
            </a:r>
          </a:p>
          <a:p>
            <a:endParaRPr lang="ko-KR" sz="1200" dirty="0"/>
          </a:p>
          <a:p>
            <a:r>
              <a:rPr lang="ko-KR" sz="1200" dirty="0"/>
              <a:t>[테스트 관련]</a:t>
            </a:r>
          </a:p>
          <a:p>
            <a:r>
              <a:rPr lang="ko-KR" sz="1200" dirty="0"/>
              <a:t>핵심 클래스들은 인터페이스(</a:t>
            </a:r>
            <a:r>
              <a:rPr lang="ko-KR" sz="1200" dirty="0" err="1"/>
              <a:t>IProcessMonitor</a:t>
            </a:r>
            <a:r>
              <a:rPr lang="ko-KR" sz="1200" dirty="0"/>
              <a:t> 등)로 추상화되어 있어서,</a:t>
            </a:r>
          </a:p>
          <a:p>
            <a:r>
              <a:rPr lang="ko-KR" sz="1200" dirty="0"/>
              <a:t>테스트할 때 실제 프로세스나 DB 없이도 가짜 객체(</a:t>
            </a:r>
            <a:r>
              <a:rPr lang="ko-KR" sz="1200" dirty="0" err="1"/>
              <a:t>Mock</a:t>
            </a:r>
            <a:r>
              <a:rPr lang="ko-KR" sz="1200" dirty="0"/>
              <a:t>)</a:t>
            </a:r>
            <a:r>
              <a:rPr lang="ko-KR" sz="1200" dirty="0" err="1"/>
              <a:t>를</a:t>
            </a:r>
            <a:r>
              <a:rPr lang="ko-KR" sz="1200" dirty="0"/>
              <a:t> 넣어서 테스트할 수 있습니다.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200" dirty="0"/>
              <a:t>[ERWEKA]</a:t>
            </a:r>
          </a:p>
          <a:p>
            <a:r>
              <a:rPr lang="ko-KR" sz="1200" dirty="0" err="1"/>
              <a:t>ERWEKA는</a:t>
            </a:r>
            <a:r>
              <a:rPr lang="ko-KR" sz="1200" dirty="0"/>
              <a:t> </a:t>
            </a:r>
            <a:r>
              <a:rPr lang="ko-KR" sz="1200" dirty="0" err="1"/>
              <a:t>Java</a:t>
            </a:r>
            <a:r>
              <a:rPr lang="ko-KR" sz="1200" dirty="0"/>
              <a:t> 프로그램이라 자동 재시작을 하지 않습니다.</a:t>
            </a:r>
          </a:p>
          <a:p>
            <a:r>
              <a:rPr lang="ko-KR" sz="1200" dirty="0"/>
              <a:t>대신 "프로세스가 실행 중인가?" + "TCP 포트가 응답하는가?" 두 가지를 확인합니다.</a:t>
            </a:r>
          </a:p>
          <a:p>
            <a:r>
              <a:rPr lang="ko-KR" sz="1200" dirty="0"/>
              <a:t>둘 중 하나라도 실패하면 바로 </a:t>
            </a:r>
            <a:r>
              <a:rPr lang="ko-KR" sz="1200" dirty="0" err="1"/>
              <a:t>Failed</a:t>
            </a:r>
            <a:r>
              <a:rPr lang="ko-KR" sz="1200" dirty="0"/>
              <a:t> 상태가 되고, </a:t>
            </a:r>
            <a:r>
              <a:rPr lang="ko-KR" sz="1200" dirty="0" err="1"/>
              <a:t>DB에</a:t>
            </a:r>
            <a:r>
              <a:rPr lang="ko-KR" sz="1200" dirty="0"/>
              <a:t> 알람을 1회 기록합니다.</a:t>
            </a:r>
          </a:p>
          <a:p>
            <a:r>
              <a:rPr lang="ko-KR" sz="1200" dirty="0"/>
              <a:t>나중에 프로세스가 복구되면 알람 플래그가 </a:t>
            </a:r>
            <a:r>
              <a:rPr lang="ko-KR" sz="1200" dirty="0" err="1"/>
              <a:t>리셋되어</a:t>
            </a:r>
            <a:r>
              <a:rPr lang="ko-KR" sz="1200" dirty="0"/>
              <a:t>, 다시 장애가 나면 새 알람이 기록됩니다.</a:t>
            </a:r>
          </a:p>
          <a:p>
            <a:endParaRPr lang="ko-KR" sz="1200" dirty="0"/>
          </a:p>
          <a:p>
            <a:r>
              <a:rPr lang="ko-KR" sz="1200" dirty="0"/>
              <a:t>[</a:t>
            </a:r>
            <a:r>
              <a:rPr lang="ko-KR" sz="1200" dirty="0" err="1"/>
              <a:t>TabmachineIF</a:t>
            </a:r>
            <a:r>
              <a:rPr lang="ko-KR" sz="1200" dirty="0"/>
              <a:t>]</a:t>
            </a:r>
          </a:p>
          <a:p>
            <a:r>
              <a:rPr lang="ko-KR" sz="1200" dirty="0" err="1"/>
              <a:t>TabmachineIF는</a:t>
            </a:r>
            <a:r>
              <a:rPr lang="ko-KR" sz="1200" dirty="0"/>
              <a:t> 자동 재시작을 시도합니다. 동작 순서는:</a:t>
            </a:r>
          </a:p>
          <a:p>
            <a:r>
              <a:rPr lang="ko-KR" sz="1200" dirty="0"/>
              <a:t>1) 프로세스가 없으면 재시작 시도 (기본 최대 3회)</a:t>
            </a:r>
          </a:p>
          <a:p>
            <a:r>
              <a:rPr lang="ko-KR" sz="1200" dirty="0"/>
              <a:t>2) 시도 사이에 </a:t>
            </a:r>
            <a:r>
              <a:rPr lang="ko-KR" sz="1200" dirty="0" err="1"/>
              <a:t>쿨다운</a:t>
            </a:r>
            <a:r>
              <a:rPr lang="ko-KR" sz="1200" dirty="0"/>
              <a:t>(기본 60초) 대기</a:t>
            </a:r>
          </a:p>
          <a:p>
            <a:r>
              <a:rPr lang="ko-KR" sz="1200" dirty="0"/>
              <a:t>3) 3회 모두 실패하면 </a:t>
            </a:r>
            <a:r>
              <a:rPr lang="ko-KR" sz="1200" dirty="0" err="1"/>
              <a:t>Failed</a:t>
            </a:r>
            <a:r>
              <a:rPr lang="ko-KR" sz="1200" dirty="0"/>
              <a:t> 상태 → DB 알람 기록</a:t>
            </a:r>
          </a:p>
          <a:p>
            <a:r>
              <a:rPr lang="ko-KR" sz="1200" dirty="0"/>
              <a:t>4) 프로세스가 살아나면 카운터 리셋 → 다시 정상 감시</a:t>
            </a:r>
          </a:p>
          <a:p>
            <a:endParaRPr lang="ko-KR" sz="1200" dirty="0"/>
          </a:p>
          <a:p>
            <a:r>
              <a:rPr lang="ko-KR" sz="1200" dirty="0"/>
              <a:t>[</a:t>
            </a:r>
            <a:r>
              <a:rPr lang="ko-KR" sz="1200" dirty="0" err="1"/>
              <a:t>HealthStatus</a:t>
            </a:r>
            <a:r>
              <a:rPr lang="ko-KR" sz="1200" dirty="0"/>
              <a:t> </a:t>
            </a:r>
            <a:r>
              <a:rPr lang="ko-KR" sz="1200" dirty="0" err="1"/>
              <a:t>상태값</a:t>
            </a:r>
            <a:r>
              <a:rPr lang="ko-KR" sz="1200" dirty="0"/>
              <a:t>]</a:t>
            </a:r>
          </a:p>
          <a:p>
            <a:r>
              <a:rPr lang="ko-KR" sz="1200" dirty="0"/>
              <a:t>코드에서 </a:t>
            </a:r>
            <a:r>
              <a:rPr lang="ko-KR" sz="1200" dirty="0" err="1"/>
              <a:t>HealthStatus라는</a:t>
            </a:r>
            <a:r>
              <a:rPr lang="ko-KR" sz="1200" dirty="0"/>
              <a:t> </a:t>
            </a:r>
            <a:r>
              <a:rPr lang="ko-KR" sz="1200" dirty="0" err="1"/>
              <a:t>enum으로</a:t>
            </a:r>
            <a:r>
              <a:rPr lang="ko-KR" sz="1200" dirty="0"/>
              <a:t> 관리됩니다.</a:t>
            </a:r>
          </a:p>
          <a:p>
            <a:r>
              <a:rPr lang="ko-KR" sz="1200" dirty="0" err="1"/>
              <a:t>UI에서</a:t>
            </a:r>
            <a:r>
              <a:rPr lang="ko-KR" sz="1200" dirty="0"/>
              <a:t> 트레이 아이콘 색상, 대시보드 상태 카드 색상이 이 값에 따라 바뀝니다.</a:t>
            </a:r>
          </a:p>
          <a:p>
            <a:r>
              <a:rPr lang="ko-KR" sz="1200" dirty="0"/>
              <a:t>가장 나쁜 상태가 트레이 아이콘 색상을 결정합니다 (예: 하나라도 </a:t>
            </a:r>
            <a:r>
              <a:rPr lang="ko-KR" sz="1200" dirty="0" err="1"/>
              <a:t>Failed면</a:t>
            </a:r>
            <a:r>
              <a:rPr lang="ko-KR" sz="1200" dirty="0"/>
              <a:t> 빨간색).</a:t>
            </a:r>
          </a:p>
          <a:p>
            <a:endParaRPr lang="ko-KR" sz="1200" dirty="0"/>
          </a:p>
          <a:p>
            <a:r>
              <a:rPr lang="ko-KR" sz="1200" dirty="0"/>
              <a:t>[알람 중복 방지]</a:t>
            </a:r>
          </a:p>
          <a:p>
            <a:r>
              <a:rPr lang="ko-KR" sz="1200" dirty="0"/>
              <a:t>_</a:t>
            </a:r>
            <a:r>
              <a:rPr lang="ko-KR" sz="1200" dirty="0" err="1"/>
              <a:t>erwekaAlarmSent</a:t>
            </a:r>
            <a:r>
              <a:rPr lang="ko-KR" sz="1200" dirty="0"/>
              <a:t>, _</a:t>
            </a:r>
            <a:r>
              <a:rPr lang="ko-KR" sz="1200" dirty="0" err="1"/>
              <a:t>tabAlarmSent라는</a:t>
            </a:r>
            <a:r>
              <a:rPr lang="ko-KR" sz="1200" dirty="0"/>
              <a:t> </a:t>
            </a:r>
            <a:r>
              <a:rPr lang="ko-KR" sz="1200" dirty="0" err="1"/>
              <a:t>volatile</a:t>
            </a:r>
            <a:r>
              <a:rPr lang="ko-KR" sz="1200" dirty="0"/>
              <a:t> 플래그로 같은 장애에 대해 알람이 반복 기록되지 않도록 합니다.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200" dirty="0"/>
              <a:t>[개발 환경 준비]</a:t>
            </a:r>
          </a:p>
          <a:p>
            <a:r>
              <a:rPr lang="ko-KR" sz="1200" dirty="0"/>
              <a:t>.NET 8.0 </a:t>
            </a:r>
            <a:r>
              <a:rPr lang="ko-KR" sz="1200" dirty="0" err="1"/>
              <a:t>SDK가</a:t>
            </a:r>
            <a:r>
              <a:rPr lang="ko-KR" sz="1200" dirty="0"/>
              <a:t> 설치되어 있어야 합니다.</a:t>
            </a:r>
          </a:p>
          <a:p>
            <a:r>
              <a:rPr lang="ko-KR" sz="1200" dirty="0" err="1"/>
              <a:t>인스톨러를</a:t>
            </a:r>
            <a:r>
              <a:rPr lang="ko-KR" sz="1200" dirty="0"/>
              <a:t> 만들려면 </a:t>
            </a:r>
            <a:r>
              <a:rPr lang="ko-KR" sz="1200" dirty="0" err="1"/>
              <a:t>Inno</a:t>
            </a:r>
            <a:r>
              <a:rPr lang="ko-KR" sz="1200" dirty="0"/>
              <a:t> </a:t>
            </a:r>
            <a:r>
              <a:rPr lang="ko-KR" sz="1200" dirty="0" err="1"/>
              <a:t>Setup</a:t>
            </a:r>
            <a:r>
              <a:rPr lang="ko-KR" sz="1200" dirty="0"/>
              <a:t> 6도 필요합니다 (무료 프로그램).</a:t>
            </a:r>
          </a:p>
          <a:p>
            <a:endParaRPr lang="ko-KR" sz="1200" dirty="0"/>
          </a:p>
          <a:p>
            <a:r>
              <a:rPr lang="ko-KR" sz="1200" dirty="0"/>
              <a:t>[빌드 방법 — 3가지]</a:t>
            </a:r>
          </a:p>
          <a:p>
            <a:r>
              <a:rPr lang="ko-KR" sz="1200" dirty="0"/>
              <a:t>1) </a:t>
            </a:r>
            <a:r>
              <a:rPr lang="ko-KR" sz="1200" dirty="0" err="1"/>
              <a:t>dotnet</a:t>
            </a:r>
            <a:r>
              <a:rPr lang="ko-KR" sz="1200" dirty="0"/>
              <a:t> </a:t>
            </a:r>
            <a:r>
              <a:rPr lang="ko-KR" sz="1200" dirty="0" err="1"/>
              <a:t>publish</a:t>
            </a:r>
            <a:r>
              <a:rPr lang="ko-KR" sz="1200" dirty="0"/>
              <a:t>: 소스 코드를 실행 파일(</a:t>
            </a:r>
            <a:r>
              <a:rPr lang="ko-KR" sz="1200" dirty="0" err="1"/>
              <a:t>exe</a:t>
            </a:r>
            <a:r>
              <a:rPr lang="ko-KR" sz="1200" dirty="0"/>
              <a:t>)로 변환합니다.</a:t>
            </a:r>
          </a:p>
          <a:p>
            <a:r>
              <a:rPr lang="ko-KR" sz="1200" dirty="0"/>
              <a:t>   --</a:t>
            </a:r>
            <a:r>
              <a:rPr lang="ko-KR" sz="1200" dirty="0" err="1"/>
              <a:t>self-contained</a:t>
            </a:r>
            <a:r>
              <a:rPr lang="ko-KR" sz="1200" dirty="0"/>
              <a:t> 옵션 덕분에 현장 </a:t>
            </a:r>
            <a:r>
              <a:rPr lang="ko-KR" sz="1200" dirty="0" err="1"/>
              <a:t>PC에</a:t>
            </a:r>
            <a:r>
              <a:rPr lang="ko-KR" sz="1200" dirty="0"/>
              <a:t> .</a:t>
            </a:r>
            <a:r>
              <a:rPr lang="ko-KR" sz="1200" dirty="0" err="1"/>
              <a:t>NET을</a:t>
            </a:r>
            <a:r>
              <a:rPr lang="ko-KR" sz="1200" dirty="0"/>
              <a:t> 따로 설치할 필요가 없습니다.</a:t>
            </a:r>
          </a:p>
          <a:p>
            <a:r>
              <a:rPr lang="ko-KR" sz="1200" dirty="0"/>
              <a:t>   대신 </a:t>
            </a:r>
            <a:r>
              <a:rPr lang="ko-KR" sz="1200" dirty="0" err="1"/>
              <a:t>exe</a:t>
            </a:r>
            <a:r>
              <a:rPr lang="ko-KR" sz="1200" dirty="0"/>
              <a:t> 크기가 약 75MB로 큽니다.</a:t>
            </a:r>
          </a:p>
          <a:p>
            <a:endParaRPr lang="ko-KR" sz="1200" dirty="0"/>
          </a:p>
          <a:p>
            <a:r>
              <a:rPr lang="ko-KR" sz="1200" dirty="0"/>
              <a:t>2) build_installer.ps1: </a:t>
            </a:r>
            <a:r>
              <a:rPr lang="ko-KR" sz="1200" dirty="0" err="1"/>
              <a:t>dotnet</a:t>
            </a:r>
            <a:r>
              <a:rPr lang="ko-KR" sz="1200" dirty="0"/>
              <a:t> </a:t>
            </a:r>
            <a:r>
              <a:rPr lang="ko-KR" sz="1200" dirty="0" err="1"/>
              <a:t>publish</a:t>
            </a:r>
            <a:r>
              <a:rPr lang="ko-KR" sz="1200" dirty="0"/>
              <a:t> + </a:t>
            </a:r>
            <a:r>
              <a:rPr lang="ko-KR" sz="1200" dirty="0" err="1"/>
              <a:t>Inno</a:t>
            </a:r>
            <a:r>
              <a:rPr lang="ko-KR" sz="1200" dirty="0"/>
              <a:t> </a:t>
            </a:r>
            <a:r>
              <a:rPr lang="ko-KR" sz="1200" dirty="0" err="1"/>
              <a:t>Setup</a:t>
            </a:r>
            <a:r>
              <a:rPr lang="ko-KR" sz="1200" dirty="0"/>
              <a:t> 컴파일을 한 번에 합니다.</a:t>
            </a:r>
          </a:p>
          <a:p>
            <a:r>
              <a:rPr lang="ko-KR" sz="1200" dirty="0"/>
              <a:t>   결과물은 </a:t>
            </a:r>
            <a:r>
              <a:rPr lang="ko-KR" sz="1200" dirty="0" err="1"/>
              <a:t>Installer</a:t>
            </a:r>
            <a:r>
              <a:rPr lang="ko-KR" sz="1200" dirty="0"/>
              <a:t>/</a:t>
            </a:r>
            <a:r>
              <a:rPr lang="ko-KR" sz="1200" dirty="0" err="1"/>
              <a:t>Output</a:t>
            </a:r>
            <a:r>
              <a:rPr lang="ko-KR" sz="1200" dirty="0"/>
              <a:t>/ 폴더에 </a:t>
            </a:r>
            <a:r>
              <a:rPr lang="ko-KR" sz="1200" dirty="0" err="1"/>
              <a:t>Setup</a:t>
            </a:r>
            <a:r>
              <a:rPr lang="ko-KR" sz="1200" dirty="0"/>
              <a:t> </a:t>
            </a:r>
            <a:r>
              <a:rPr lang="ko-KR" sz="1200" dirty="0" err="1"/>
              <a:t>exe</a:t>
            </a:r>
            <a:r>
              <a:rPr lang="ko-KR" sz="1200" dirty="0"/>
              <a:t> 파일로 나옵니다.</a:t>
            </a:r>
          </a:p>
          <a:p>
            <a:r>
              <a:rPr lang="ko-KR" sz="1200" dirty="0"/>
              <a:t>   신규 설치 시 이 </a:t>
            </a:r>
            <a:r>
              <a:rPr lang="ko-KR" sz="1200" dirty="0" err="1"/>
              <a:t>인스톨러를</a:t>
            </a:r>
            <a:r>
              <a:rPr lang="ko-KR" sz="1200" dirty="0"/>
              <a:t> 사용합니다.</a:t>
            </a:r>
          </a:p>
          <a:p>
            <a:endParaRPr lang="ko-KR" sz="1200" dirty="0"/>
          </a:p>
          <a:p>
            <a:r>
              <a:rPr lang="ko-KR" sz="1200" dirty="0"/>
              <a:t>3) build_patch.ps1: 이미 설치된 곳에 </a:t>
            </a:r>
            <a:r>
              <a:rPr lang="ko-KR" sz="1200" dirty="0" err="1"/>
              <a:t>exe만</a:t>
            </a:r>
            <a:r>
              <a:rPr lang="ko-KR" sz="1200" dirty="0"/>
              <a:t> 교체할 때 사용합니다.</a:t>
            </a:r>
          </a:p>
          <a:p>
            <a:r>
              <a:rPr lang="ko-KR" sz="1200" dirty="0"/>
              <a:t>   </a:t>
            </a:r>
            <a:r>
              <a:rPr lang="ko-KR" sz="1200" dirty="0" err="1"/>
              <a:t>Installer</a:t>
            </a:r>
            <a:r>
              <a:rPr lang="ko-KR" sz="1200" dirty="0"/>
              <a:t>/</a:t>
            </a:r>
            <a:r>
              <a:rPr lang="ko-KR" sz="1200" dirty="0" err="1"/>
              <a:t>Patch</a:t>
            </a:r>
            <a:r>
              <a:rPr lang="ko-KR" sz="1200" dirty="0"/>
              <a:t>/ 폴더에 </a:t>
            </a:r>
            <a:r>
              <a:rPr lang="ko-KR" sz="1200" dirty="0" err="1"/>
              <a:t>exe</a:t>
            </a:r>
            <a:r>
              <a:rPr lang="ko-KR" sz="1200" dirty="0"/>
              <a:t> + 적용 스크립트가 생성됩니다.</a:t>
            </a:r>
          </a:p>
          <a:p>
            <a:r>
              <a:rPr lang="ko-KR" sz="1200" dirty="0"/>
              <a:t>   현장에서 apply_patch.ps1을 관리자 권한으로 실행하면</a:t>
            </a:r>
          </a:p>
          <a:p>
            <a:r>
              <a:rPr lang="ko-KR" sz="1200" dirty="0"/>
              <a:t>   서비스 중지 → </a:t>
            </a:r>
            <a:r>
              <a:rPr lang="ko-KR" sz="1200" dirty="0" err="1"/>
              <a:t>exe</a:t>
            </a:r>
            <a:r>
              <a:rPr lang="ko-KR" sz="1200" dirty="0"/>
              <a:t> 교체 → 서비스 재시작이 자동으로 됩니다.</a:t>
            </a:r>
          </a:p>
          <a:p>
            <a:endParaRPr lang="ko-KR" sz="1200" dirty="0"/>
          </a:p>
          <a:p>
            <a:r>
              <a:rPr lang="ko-KR" sz="1200" dirty="0"/>
              <a:t>[주의사항]</a:t>
            </a:r>
          </a:p>
          <a:p>
            <a:r>
              <a:rPr lang="ko-KR" sz="1200" dirty="0"/>
              <a:t>패치 시 설정 파일(</a:t>
            </a:r>
            <a:r>
              <a:rPr lang="ko-KR" sz="1200" dirty="0" err="1"/>
              <a:t>config.json</a:t>
            </a:r>
            <a:r>
              <a:rPr lang="ko-KR" sz="1200" dirty="0"/>
              <a:t>)과 로그는 건드리지 않으므로 안전합니다.</a:t>
            </a:r>
          </a:p>
          <a:p>
            <a:r>
              <a:rPr lang="ko-KR" sz="1200" dirty="0"/>
              <a:t>테스트는 </a:t>
            </a:r>
            <a:r>
              <a:rPr lang="ko-KR" sz="1200" dirty="0" err="1"/>
              <a:t>dotnet</a:t>
            </a:r>
            <a:r>
              <a:rPr lang="ko-KR" sz="1200" dirty="0"/>
              <a:t> </a:t>
            </a:r>
            <a:r>
              <a:rPr lang="ko-KR" sz="1200" dirty="0" err="1"/>
              <a:t>test</a:t>
            </a:r>
            <a:r>
              <a:rPr lang="ko-KR" sz="1200" dirty="0"/>
              <a:t> 명령으로 실행합니다. 배포 전에 반드시 확인하세요.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sz="1200" dirty="0"/>
              <a:t>[주요 경로]</a:t>
            </a:r>
          </a:p>
          <a:p>
            <a:r>
              <a:rPr lang="ko-KR" sz="1200" dirty="0"/>
              <a:t>설정 파일: C:\ProgramData\InterfaceWatchDog\ 아래의 </a:t>
            </a:r>
            <a:r>
              <a:rPr lang="ko-KR" sz="1200" dirty="0" err="1"/>
              <a:t>config.json</a:t>
            </a:r>
            <a:r>
              <a:rPr lang="ko-KR" sz="1200" dirty="0"/>
              <a:t>, </a:t>
            </a:r>
            <a:r>
              <a:rPr lang="ko-KR" sz="1200" dirty="0" err="1"/>
              <a:t>dbconfig.json</a:t>
            </a:r>
            <a:endParaRPr lang="ko-KR" sz="1200" dirty="0"/>
          </a:p>
          <a:p>
            <a:r>
              <a:rPr lang="ko-KR" sz="1200" dirty="0"/>
              <a:t>로그 파일: 같은 경로의 </a:t>
            </a:r>
            <a:r>
              <a:rPr lang="ko-KR" sz="1200" dirty="0" err="1"/>
              <a:t>Logs</a:t>
            </a:r>
            <a:r>
              <a:rPr lang="ko-KR" sz="1200" dirty="0"/>
              <a:t> 폴더에 날짜별로 생성됩니다 (watchdog_2026-06-22.log 형식)</a:t>
            </a:r>
          </a:p>
          <a:p>
            <a:r>
              <a:rPr lang="ko-KR" sz="1200" dirty="0"/>
              <a:t>설치 경로: C:\Program </a:t>
            </a:r>
            <a:r>
              <a:rPr lang="ko-KR" sz="1200" dirty="0" err="1"/>
              <a:t>Files</a:t>
            </a:r>
            <a:r>
              <a:rPr lang="ko-KR" sz="1200" dirty="0"/>
              <a:t>\</a:t>
            </a:r>
            <a:r>
              <a:rPr lang="ko-KR" sz="1200" dirty="0" err="1"/>
              <a:t>InterfaceWatchDog</a:t>
            </a:r>
            <a:r>
              <a:rPr lang="ko-KR" sz="1200" dirty="0"/>
              <a:t>\ (</a:t>
            </a:r>
            <a:r>
              <a:rPr lang="ko-KR" sz="1200" dirty="0" err="1"/>
              <a:t>exe</a:t>
            </a:r>
            <a:r>
              <a:rPr lang="ko-KR" sz="1200" dirty="0"/>
              <a:t> 파일 위치)</a:t>
            </a:r>
          </a:p>
          <a:p>
            <a:r>
              <a:rPr lang="ko-KR" sz="1200" dirty="0"/>
              <a:t>로그는 자동 정리 기능이 없으므로, 디스크 용량이 부족하면 오래된 로그를 수동으로 삭제해야 합니다.</a:t>
            </a:r>
          </a:p>
          <a:p>
            <a:endParaRPr lang="ko-KR" sz="1200" dirty="0"/>
          </a:p>
          <a:p>
            <a:r>
              <a:rPr lang="ko-KR" sz="1200" dirty="0"/>
              <a:t>[새 감시 대상을 추가하려면?]</a:t>
            </a:r>
          </a:p>
          <a:p>
            <a:r>
              <a:rPr lang="ko-KR" sz="1200" dirty="0"/>
              <a:t>현재는 </a:t>
            </a:r>
            <a:r>
              <a:rPr lang="ko-KR" sz="1200" dirty="0" err="1"/>
              <a:t>ERWEKA와</a:t>
            </a:r>
            <a:r>
              <a:rPr lang="ko-KR" sz="1200" dirty="0"/>
              <a:t> </a:t>
            </a:r>
            <a:r>
              <a:rPr lang="ko-KR" sz="1200" dirty="0" err="1"/>
              <a:t>TabmachineIF</a:t>
            </a:r>
            <a:r>
              <a:rPr lang="ko-KR" sz="1200" dirty="0"/>
              <a:t> 두 가지가 고정으로 들어가 있습니다.</a:t>
            </a:r>
          </a:p>
          <a:p>
            <a:r>
              <a:rPr lang="ko-KR" sz="1200" dirty="0"/>
              <a:t>새 프로그램을 감시하고 싶다면 다음 5개 파일을 수정해야 합니다:</a:t>
            </a:r>
          </a:p>
          <a:p>
            <a:r>
              <a:rPr lang="ko-KR" sz="1200" dirty="0"/>
              <a:t>1) </a:t>
            </a:r>
            <a:r>
              <a:rPr lang="ko-KR" sz="1200" dirty="0" err="1"/>
              <a:t>AppConfig.cs</a:t>
            </a:r>
            <a:r>
              <a:rPr lang="ko-KR" sz="1200" dirty="0"/>
              <a:t> — 새 설정 클래스 (이름, 경로, 체크 주기 등)</a:t>
            </a:r>
          </a:p>
          <a:p>
            <a:r>
              <a:rPr lang="ko-KR" sz="1200" dirty="0"/>
              <a:t>2) </a:t>
            </a:r>
            <a:r>
              <a:rPr lang="ko-KR" sz="1200" dirty="0" err="1"/>
              <a:t>WatchDogEngine.cs</a:t>
            </a:r>
            <a:r>
              <a:rPr lang="ko-KR" sz="1200" dirty="0"/>
              <a:t> — 새 타이머 + </a:t>
            </a:r>
            <a:r>
              <a:rPr lang="ko-KR" sz="1200" dirty="0" err="1"/>
              <a:t>Check</a:t>
            </a:r>
            <a:r>
              <a:rPr lang="ko-KR" sz="1200" dirty="0"/>
              <a:t> 메서드 (감시 로직)</a:t>
            </a:r>
          </a:p>
          <a:p>
            <a:r>
              <a:rPr lang="ko-KR" sz="1200" dirty="0"/>
              <a:t>3) </a:t>
            </a:r>
            <a:r>
              <a:rPr lang="ko-KR" sz="1200" dirty="0" err="1"/>
              <a:t>MainStatusForm.cs</a:t>
            </a:r>
            <a:r>
              <a:rPr lang="ko-KR" sz="1200" dirty="0"/>
              <a:t> — 대시보드에 상태 카드 추가</a:t>
            </a:r>
          </a:p>
          <a:p>
            <a:r>
              <a:rPr lang="ko-KR" sz="1200" dirty="0"/>
              <a:t>4) </a:t>
            </a:r>
            <a:r>
              <a:rPr lang="ko-KR" sz="1200" dirty="0" err="1"/>
              <a:t>SettingsForm.cs</a:t>
            </a:r>
            <a:r>
              <a:rPr lang="ko-KR" sz="1200" dirty="0"/>
              <a:t> — 설정 화면에 탭 추가</a:t>
            </a:r>
          </a:p>
          <a:p>
            <a:r>
              <a:rPr lang="ko-KR" sz="1200" dirty="0"/>
              <a:t>5) </a:t>
            </a:r>
            <a:r>
              <a:rPr lang="ko-KR" sz="1200" dirty="0" err="1"/>
              <a:t>config.json</a:t>
            </a:r>
            <a:r>
              <a:rPr lang="ko-KR" sz="1200" dirty="0"/>
              <a:t> — 새 섹션 추가</a:t>
            </a:r>
          </a:p>
          <a:p>
            <a:endParaRPr lang="ko-KR" sz="1200" dirty="0"/>
          </a:p>
          <a:p>
            <a:r>
              <a:rPr lang="ko-KR" sz="1200" dirty="0"/>
              <a:t>기존 </a:t>
            </a:r>
            <a:r>
              <a:rPr lang="ko-KR" sz="1200" dirty="0" err="1"/>
              <a:t>TabmachineIF</a:t>
            </a:r>
            <a:r>
              <a:rPr lang="ko-KR" sz="1200" dirty="0"/>
              <a:t> 구현을 복사해서 수정하는 것이 가장 빠릅니다.</a:t>
            </a:r>
          </a:p>
          <a:p>
            <a:endParaRPr lang="ko-KR" sz="1200" dirty="0"/>
          </a:p>
          <a:p>
            <a:r>
              <a:rPr lang="ko-KR" sz="1200" dirty="0"/>
              <a:t>[더 자세한 내용]</a:t>
            </a:r>
          </a:p>
          <a:p>
            <a:r>
              <a:rPr lang="ko-KR" sz="1200" dirty="0"/>
              <a:t>Docs/HANDOVER.md 파일에 코드 수준의 상세 인수인계 문서가 있습니다.</a:t>
            </a:r>
          </a:p>
          <a:p>
            <a:r>
              <a:rPr lang="ko-KR" sz="1200" dirty="0"/>
              <a:t>이 </a:t>
            </a:r>
            <a:r>
              <a:rPr lang="ko-KR" sz="1200" dirty="0" err="1"/>
              <a:t>PPT는</a:t>
            </a:r>
            <a:r>
              <a:rPr lang="ko-KR" sz="1200" dirty="0"/>
              <a:t> 요약본이고, 실제 작업 시에는 </a:t>
            </a:r>
            <a:r>
              <a:rPr lang="ko-KR" sz="1200" dirty="0" err="1"/>
              <a:t>HANDOVER.md를</a:t>
            </a:r>
            <a:r>
              <a:rPr lang="ko-KR" sz="1200" dirty="0"/>
              <a:t> 참고하세요.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"/>
          <p:cNvSpPr/>
          <p:nvPr/>
        </p:nvSpPr>
        <p:spPr>
          <a:xfrm>
            <a:off x="1440000" y="1800000"/>
            <a:ext cx="2160000" cy="6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"/>
          <p:cNvSpPr>
            <a:spLocks noGrp="1"/>
          </p:cNvSpPr>
          <p:nvPr/>
        </p:nvSpPr>
        <p:spPr>
          <a:xfrm>
            <a:off x="1440000" y="2160000"/>
            <a:ext cx="9360000" cy="144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4000" b="1">
                <a:solidFill>
                  <a:srgbClr val="FFFFFF"/>
                </a:solidFill>
                <a:latin typeface="맑은 고딕"/>
                <a:ea typeface="맑은 고딕"/>
              </a:rPr>
              <a:t>InterfaceWatchDog</a:t>
            </a:r>
          </a:p>
        </p:txBody>
      </p:sp>
      <p:sp>
        <p:nvSpPr>
          <p:cNvPr id="4" name="TextBox"/>
          <p:cNvSpPr>
            <a:spLocks noGrp="1"/>
          </p:cNvSpPr>
          <p:nvPr/>
        </p:nvSpPr>
        <p:spPr>
          <a:xfrm>
            <a:off x="1440000" y="3240000"/>
            <a:ext cx="936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3200" b="0">
                <a:solidFill>
                  <a:srgbClr val="8C94A5"/>
                </a:solidFill>
                <a:latin typeface="맑은 고딕"/>
                <a:ea typeface="맑은 고딕"/>
              </a:rPr>
              <a:t>개발자 인수인계</a:t>
            </a:r>
          </a:p>
        </p:txBody>
      </p:sp>
      <p:sp>
        <p:nvSpPr>
          <p:cNvPr id="5" name="TextBox"/>
          <p:cNvSpPr>
            <a:spLocks noGrp="1"/>
          </p:cNvSpPr>
          <p:nvPr/>
        </p:nvSpPr>
        <p:spPr>
          <a:xfrm>
            <a:off x="1440000" y="4320000"/>
            <a:ext cx="936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600" b="0">
                <a:solidFill>
                  <a:srgbClr val="6B7280"/>
                </a:solidFill>
                <a:latin typeface="맑은 고딕"/>
                <a:ea typeface="맑은 고딕"/>
              </a:rPr>
              <a:t>ERWEKA / TabmachineIF 인터페이스 감시 시스템  |  v1.3.0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C20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"/>
          <p:cNvSpPr>
            <a:spLocks noGrp="1"/>
          </p:cNvSpPr>
          <p:nvPr/>
        </p:nvSpPr>
        <p:spPr>
          <a:xfrm>
            <a:off x="1440000" y="1800000"/>
            <a:ext cx="9360000" cy="1080000"/>
          </a:xfrm>
          <a:prstGeom prst="rect">
            <a:avLst/>
          </a:prstGeom>
        </p:spPr>
        <p:txBody>
          <a:bodyPr wrap="square" anchor="ctr"/>
          <a:lstStyle/>
          <a:p>
            <a:pPr algn="ctr"/>
            <a:r>
              <a:rPr lang="ko-KR" sz="3600" b="1">
                <a:solidFill>
                  <a:srgbClr val="FFFFFF"/>
                </a:solidFill>
                <a:latin typeface="맑은 고딕"/>
                <a:ea typeface="맑은 고딕"/>
              </a:rPr>
              <a:t>개발자 인수인계</a:t>
            </a:r>
          </a:p>
        </p:txBody>
      </p:sp>
      <p:sp>
        <p:nvSpPr>
          <p:cNvPr id="7" name="TextBox"/>
          <p:cNvSpPr>
            <a:spLocks noGrp="1"/>
          </p:cNvSpPr>
          <p:nvPr/>
        </p:nvSpPr>
        <p:spPr>
          <a:xfrm>
            <a:off x="1440000" y="3240000"/>
            <a:ext cx="9360000" cy="720000"/>
          </a:xfrm>
          <a:prstGeom prst="rect">
            <a:avLst/>
          </a:prstGeom>
        </p:spPr>
        <p:txBody>
          <a:bodyPr wrap="square" anchor="t"/>
          <a:lstStyle/>
          <a:p>
            <a:pPr algn="ctr"/>
            <a:r>
              <a:rPr lang="ko-KR" sz="2000" b="0">
                <a:solidFill>
                  <a:srgbClr val="8C94A5"/>
                </a:solidFill>
                <a:latin typeface="맑은 고딕"/>
                <a:ea typeface="맑은 고딕"/>
              </a:rPr>
              <a:t>아키텍처, 코드 구조, 핵심 로직, 빌드/배포, 유지보수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C20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TextBox"/>
          <p:cNvSpPr>
            <a:spLocks noGrp="1"/>
          </p:cNvSpPr>
          <p:nvPr/>
        </p:nvSpPr>
        <p:spPr>
          <a:xfrm>
            <a:off x="720000" y="140000"/>
            <a:ext cx="10752000" cy="500000"/>
          </a:xfrm>
          <a:prstGeom prst="rect">
            <a:avLst/>
          </a:prstGeom>
        </p:spPr>
        <p:txBody>
          <a:bodyPr wrap="square" anchor="ctr"/>
          <a:lstStyle/>
          <a:p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시스템 아키텍처 (Dual-mode)</a:t>
            </a:r>
          </a:p>
        </p:txBody>
      </p:sp>
      <p:sp>
        <p:nvSpPr>
          <p:cNvPr id="10" name="Rect"/>
          <p:cNvSpPr/>
          <p:nvPr/>
        </p:nvSpPr>
        <p:spPr>
          <a:xfrm>
            <a:off x="720000" y="1080000"/>
            <a:ext cx="5040000" cy="2520000"/>
          </a:xfrm>
          <a:prstGeom prst="rect">
            <a:avLst/>
          </a:prstGeom>
          <a:solidFill>
            <a:srgbClr val="EBF5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1" name="TextBox"/>
          <p:cNvSpPr>
            <a:spLocks noGrp="1"/>
          </p:cNvSpPr>
          <p:nvPr/>
        </p:nvSpPr>
        <p:spPr>
          <a:xfrm>
            <a:off x="1080000" y="1188000"/>
            <a:ext cx="4320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600" b="1">
                <a:solidFill>
                  <a:srgbClr val="2563EB"/>
                </a:solidFill>
                <a:latin typeface="맑은 고딕"/>
                <a:ea typeface="맑은 고딕"/>
              </a:rPr>
              <a:t>감시프로그램 (Session 1+)</a:t>
            </a:r>
          </a:p>
        </p:txBody>
      </p:sp>
      <p:sp>
        <p:nvSpPr>
          <p:cNvPr id="12" name="BulletBox"/>
          <p:cNvSpPr>
            <a:spLocks noGrp="1"/>
          </p:cNvSpPr>
          <p:nvPr/>
        </p:nvSpPr>
        <p:spPr>
          <a:xfrm>
            <a:off x="1080000" y="1800000"/>
            <a:ext cx="4320000" cy="1800000"/>
          </a:xfrm>
          <a:prstGeom prst="rect">
            <a:avLst/>
          </a:prstGeom>
        </p:spPr>
        <p:txBody>
          <a:bodyPr wrap="square" anchor="t"/>
          <a:lstStyle/>
          <a:p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WatchDogEngine (감시 + 재시작)</a:t>
            </a:r>
          </a:p>
          <a:p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TrayApplicationContext (트레이 아이콘)</a:t>
            </a:r>
          </a:p>
          <a:p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MainStatusForm (대시보드)</a:t>
            </a:r>
          </a:p>
          <a:p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SettingsForm (설정 UI)</a:t>
            </a:r>
          </a:p>
          <a:p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사용자 로그인 시 실행</a:t>
            </a:r>
          </a:p>
        </p:txBody>
      </p:sp>
      <p:sp>
        <p:nvSpPr>
          <p:cNvPr id="13" name="Rect"/>
          <p:cNvSpPr/>
          <p:nvPr/>
        </p:nvSpPr>
        <p:spPr>
          <a:xfrm>
            <a:off x="6480000" y="1080000"/>
            <a:ext cx="5040000" cy="25200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TextBox"/>
          <p:cNvSpPr>
            <a:spLocks noGrp="1"/>
          </p:cNvSpPr>
          <p:nvPr/>
        </p:nvSpPr>
        <p:spPr>
          <a:xfrm>
            <a:off x="6840000" y="1188000"/>
            <a:ext cx="4320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600" b="1">
                <a:solidFill>
                  <a:srgbClr val="D97706"/>
                </a:solidFill>
                <a:latin typeface="맑은 고딕"/>
                <a:ea typeface="맑은 고딕"/>
              </a:rPr>
              <a:t>Windows 서비스 (Session 0)</a:t>
            </a:r>
          </a:p>
        </p:txBody>
      </p:sp>
      <p:sp>
        <p:nvSpPr>
          <p:cNvPr id="15" name="BulletBox"/>
          <p:cNvSpPr>
            <a:spLocks noGrp="1"/>
          </p:cNvSpPr>
          <p:nvPr/>
        </p:nvSpPr>
        <p:spPr>
          <a:xfrm>
            <a:off x="6840000" y="1800000"/>
            <a:ext cx="4320000" cy="1800000"/>
          </a:xfrm>
          <a:prstGeom prst="rect">
            <a:avLst/>
          </a:prstGeom>
        </p:spPr>
        <p:txBody>
          <a:bodyPr wrap="square" anchor="t"/>
          <a:lstStyle/>
          <a:p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WatchDogEngine (감시만, 재시작 X)</a:t>
            </a:r>
          </a:p>
          <a:p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FileSystemWatcher (설정 핫리로드)</a:t>
            </a:r>
          </a:p>
          <a:p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부팅 시 자동 시작</a:t>
            </a:r>
          </a:p>
          <a:p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Session 0 제약: UI 불가</a:t>
            </a:r>
          </a:p>
          <a:p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재시작은 감시프로그램이 전담</a:t>
            </a:r>
          </a:p>
        </p:txBody>
      </p:sp>
      <p:sp>
        <p:nvSpPr>
          <p:cNvPr id="16" name="Rect"/>
          <p:cNvSpPr/>
          <p:nvPr/>
        </p:nvSpPr>
        <p:spPr>
          <a:xfrm>
            <a:off x="720000" y="3960000"/>
            <a:ext cx="10800000" cy="108000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TextBox"/>
          <p:cNvSpPr>
            <a:spLocks noGrp="1"/>
          </p:cNvSpPr>
          <p:nvPr/>
        </p:nvSpPr>
        <p:spPr>
          <a:xfrm>
            <a:off x="1080000" y="4068000"/>
            <a:ext cx="10080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500" b="1">
                <a:solidFill>
                  <a:srgbClr val="16A34A"/>
                </a:solidFill>
                <a:latin typeface="맑은 고딕"/>
                <a:ea typeface="맑은 고딕"/>
              </a:rPr>
              <a:t>공유 리소스 (%ProgramData%\InterfaceWatchDog\)</a:t>
            </a:r>
          </a:p>
        </p:txBody>
      </p:sp>
      <p:sp>
        <p:nvSpPr>
          <p:cNvPr id="18" name="BulletBox"/>
          <p:cNvSpPr>
            <a:spLocks noGrp="1"/>
          </p:cNvSpPr>
          <p:nvPr/>
        </p:nvSpPr>
        <p:spPr>
          <a:xfrm>
            <a:off x="1080000" y="4500000"/>
            <a:ext cx="10080000" cy="720000"/>
          </a:xfrm>
          <a:prstGeom prst="rect">
            <a:avLst/>
          </a:prstGeom>
        </p:spPr>
        <p:txBody>
          <a:bodyPr wrap="square" anchor="t"/>
          <a:lstStyle/>
          <a:p>
            <a:pPr marL="457200" indent="-457200">
              <a:buFont typeface="Arial"/>
              <a:buChar char="•"/>
            </a:pPr>
            <a:r>
              <a:rPr lang="ko-KR" sz="1300">
                <a:solidFill>
                  <a:srgbClr val="374151"/>
                </a:solidFill>
                <a:latin typeface="맑은 고딕"/>
                <a:ea typeface="맑은 고딕"/>
              </a:rPr>
              <a:t>config.json (감시 설정)     dbconfig.json (DB 연결)     Logs\ (일별 로그)</a:t>
            </a:r>
          </a:p>
        </p:txBody>
      </p:sp>
      <p:sp>
        <p:nvSpPr>
          <p:cNvPr id="19" name="TextBox"/>
          <p:cNvSpPr>
            <a:spLocks noGrp="1"/>
          </p:cNvSpPr>
          <p:nvPr/>
        </p:nvSpPr>
        <p:spPr>
          <a:xfrm>
            <a:off x="720000" y="5400000"/>
            <a:ext cx="10800000" cy="108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 dirty="0">
                <a:solidFill>
                  <a:srgbClr val="DC2626"/>
                </a:solidFill>
                <a:latin typeface="맑은 고딕"/>
                <a:ea typeface="맑은 고딕"/>
              </a:rPr>
              <a:t>핵심: ERWEKA/</a:t>
            </a:r>
            <a:r>
              <a:rPr lang="ko-KR" sz="1400" b="1" dirty="0" err="1">
                <a:solidFill>
                  <a:srgbClr val="DC2626"/>
                </a:solidFill>
                <a:latin typeface="맑은 고딕"/>
                <a:ea typeface="맑은 고딕"/>
              </a:rPr>
              <a:t>TabmachineIF</a:t>
            </a:r>
            <a:r>
              <a:rPr lang="ko-KR" sz="1400" b="1" dirty="0">
                <a:solidFill>
                  <a:srgbClr val="DC2626"/>
                </a:solidFill>
                <a:latin typeface="맑은 고딕"/>
                <a:ea typeface="맑은 고딕"/>
              </a:rPr>
              <a:t> 모두 재시작 후 사용자 조작이 필요하므로, </a:t>
            </a:r>
            <a:r>
              <a:rPr lang="ko-KR" sz="1400" b="1" dirty="0" err="1">
                <a:solidFill>
                  <a:srgbClr val="DC2626"/>
                </a:solidFill>
                <a:latin typeface="맑은 고딕"/>
                <a:ea typeface="맑은 고딕"/>
              </a:rPr>
              <a:t>Session</a:t>
            </a:r>
            <a:r>
              <a:rPr lang="ko-KR" sz="1400" b="1" dirty="0">
                <a:solidFill>
                  <a:srgbClr val="DC2626"/>
                </a:solidFill>
                <a:latin typeface="맑은 고딕"/>
                <a:ea typeface="맑은 고딕"/>
              </a:rPr>
              <a:t> 0(서비스)에서는 재시작이 무용지물</a:t>
            </a:r>
            <a:endParaRPr lang="en-US" altLang="ko-KR" sz="1400" b="1" dirty="0">
              <a:solidFill>
                <a:srgbClr val="DC2626"/>
              </a:solidFill>
              <a:latin typeface="맑은 고딕"/>
              <a:ea typeface="맑은 고딕"/>
            </a:endParaRPr>
          </a:p>
          <a:p>
            <a:pPr algn="l"/>
            <a:r>
              <a:rPr lang="ko-KR" sz="1400" b="1" dirty="0">
                <a:solidFill>
                  <a:srgbClr val="DC2626"/>
                </a:solidFill>
                <a:latin typeface="맑은 고딕"/>
                <a:ea typeface="맑은 고딕"/>
              </a:rPr>
              <a:t> → 감시프로그램이 재시작 전담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C20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TextBox"/>
          <p:cNvSpPr>
            <a:spLocks noGrp="1"/>
          </p:cNvSpPr>
          <p:nvPr/>
        </p:nvSpPr>
        <p:spPr>
          <a:xfrm>
            <a:off x="720000" y="140000"/>
            <a:ext cx="10752000" cy="500000"/>
          </a:xfrm>
          <a:prstGeom prst="rect">
            <a:avLst/>
          </a:prstGeom>
        </p:spPr>
        <p:txBody>
          <a:bodyPr wrap="square" anchor="ctr"/>
          <a:lstStyle/>
          <a:p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코드 구조</a:t>
            </a:r>
          </a:p>
        </p:txBody>
      </p:sp>
      <p:sp>
        <p:nvSpPr>
          <p:cNvPr id="22" name="Rect"/>
          <p:cNvSpPr/>
          <p:nvPr/>
        </p:nvSpPr>
        <p:spPr>
          <a:xfrm>
            <a:off x="720000" y="1080000"/>
            <a:ext cx="5040000" cy="5040000"/>
          </a:xfrm>
          <a:prstGeom prst="rect">
            <a:avLst/>
          </a:prstGeom>
          <a:solidFill>
            <a:srgbClr val="F5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TextBox"/>
          <p:cNvSpPr>
            <a:spLocks noGrp="1"/>
          </p:cNvSpPr>
          <p:nvPr/>
        </p:nvSpPr>
        <p:spPr>
          <a:xfrm>
            <a:off x="1080000" y="1188000"/>
            <a:ext cx="4320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600" b="1">
                <a:solidFill>
                  <a:srgbClr val="1C2028"/>
                </a:solidFill>
                <a:latin typeface="맑은 고딕"/>
                <a:ea typeface="맑은 고딕"/>
              </a:rPr>
              <a:t>디렉토리 구조</a:t>
            </a:r>
          </a:p>
        </p:txBody>
      </p:sp>
      <p:sp>
        <p:nvSpPr>
          <p:cNvPr id="24" name="BulletBox"/>
          <p:cNvSpPr>
            <a:spLocks noGrp="1"/>
          </p:cNvSpPr>
          <p:nvPr/>
        </p:nvSpPr>
        <p:spPr>
          <a:xfrm>
            <a:off x="1080000" y="1800000"/>
            <a:ext cx="4320000" cy="4320000"/>
          </a:xfrm>
          <a:prstGeom prst="rect">
            <a:avLst/>
          </a:prstGeom>
        </p:spPr>
        <p:txBody>
          <a:bodyPr wrap="square" anchor="t"/>
          <a:lstStyle/>
          <a:p>
            <a:pPr marL="457200" indent="-457200">
              <a:buFont typeface="Arial"/>
              <a:buChar char="•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Program.cs — 진입점</a:t>
            </a:r>
          </a:p>
          <a:p>
            <a:pPr marL="457200" indent="-457200">
              <a:buFont typeface="Arial"/>
              <a:buChar char="•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Core/WatchDogEngine.cs — 감시 엔진</a:t>
            </a:r>
          </a:p>
          <a:p>
            <a:pPr marL="457200" indent="-457200">
              <a:buFont typeface="Arial"/>
              <a:buChar char="•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Core/ConfigManager.cs — 설정 관리</a:t>
            </a:r>
          </a:p>
          <a:p>
            <a:pPr marL="457200" indent="-457200">
              <a:buFont typeface="Arial"/>
              <a:buChar char="•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Core/ProcessMatcher.cs — 프로세스 매칭</a:t>
            </a:r>
          </a:p>
          <a:p>
            <a:pPr marL="457200" indent="-457200">
              <a:buFont typeface="Arial"/>
              <a:buChar char="•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Core/RestartTracker.cs — 재시작 추적</a:t>
            </a:r>
          </a:p>
          <a:p>
            <a:pPr marL="457200" indent="-457200">
              <a:buFont typeface="Arial"/>
              <a:buChar char="•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Core/Actions/ — 실행 액션</a:t>
            </a:r>
          </a:p>
          <a:p>
            <a:pPr marL="914400" indent="-457200">
              <a:buFont typeface="Arial"/>
              <a:buChar char="–"/>
            </a:pPr>
            <a:r>
              <a:rPr lang="ko-KR" sz="1100">
                <a:solidFill>
                  <a:srgbClr val="374151"/>
                </a:solidFill>
                <a:latin typeface="맑은 고딕"/>
                <a:ea typeface="맑은 고딕"/>
              </a:rPr>
              <a:t>ProcessRestarter, AlarmWriter, LogWriter</a:t>
            </a:r>
          </a:p>
          <a:p>
            <a:pPr marL="457200" indent="-457200">
              <a:buFont typeface="Arial"/>
              <a:buChar char="•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Core/Models/ — 데이터 모델</a:t>
            </a:r>
          </a:p>
          <a:p>
            <a:pPr marL="914400" indent="-457200">
              <a:buFont typeface="Arial"/>
              <a:buChar char="–"/>
            </a:pPr>
            <a:r>
              <a:rPr lang="ko-KR" sz="1100">
                <a:solidFill>
                  <a:srgbClr val="374151"/>
                </a:solidFill>
                <a:latin typeface="맑은 고딕"/>
                <a:ea typeface="맑은 고딕"/>
              </a:rPr>
              <a:t>AppConfig, ProgramStatus, LogEntry</a:t>
            </a:r>
          </a:p>
          <a:p>
            <a:pPr marL="457200" indent="-457200">
              <a:buFont typeface="Arial"/>
              <a:buChar char="•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Core/Monitors/ — 감시 모듈</a:t>
            </a:r>
          </a:p>
          <a:p>
            <a:pPr marL="914400" indent="-457200">
              <a:buFont typeface="Arial"/>
              <a:buChar char="–"/>
            </a:pPr>
            <a:r>
              <a:rPr lang="ko-KR" sz="1100">
                <a:solidFill>
                  <a:srgbClr val="374151"/>
                </a:solidFill>
                <a:latin typeface="맑은 고딕"/>
                <a:ea typeface="맑은 고딕"/>
              </a:rPr>
              <a:t>ProcessMonitor, FileActivityMonitor</a:t>
            </a:r>
          </a:p>
          <a:p>
            <a:pPr marL="457200" indent="-457200">
              <a:buFont typeface="Arial"/>
              <a:buChar char="•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UI/ — 사용자 인터페이스</a:t>
            </a:r>
          </a:p>
          <a:p>
            <a:pPr marL="457200" indent="-457200">
              <a:buFont typeface="Arial"/>
              <a:buChar char="•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Service/ — Windows 서비스</a:t>
            </a:r>
          </a:p>
        </p:txBody>
      </p:sp>
      <p:sp>
        <p:nvSpPr>
          <p:cNvPr id="25" name="TextBox"/>
          <p:cNvSpPr>
            <a:spLocks noGrp="1"/>
          </p:cNvSpPr>
          <p:nvPr/>
        </p:nvSpPr>
        <p:spPr>
          <a:xfrm>
            <a:off x="6480000" y="1188000"/>
            <a:ext cx="5040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600" b="1">
                <a:solidFill>
                  <a:srgbClr val="1C2028"/>
                </a:solidFill>
                <a:latin typeface="맑은 고딕"/>
                <a:ea typeface="맑은 고딕"/>
              </a:rPr>
              <a:t>핵심 클래스</a:t>
            </a:r>
          </a:p>
        </p:txBody>
      </p:sp>
      <p:graphicFrame>
        <p:nvGraphicFramePr>
          <p:cNvPr id="26" name="Table"/>
          <p:cNvGraphicFramePr>
            <a:graphicFrameLocks noGrp="1"/>
          </p:cNvGraphicFramePr>
          <p:nvPr/>
        </p:nvGraphicFramePr>
        <p:xfrm>
          <a:off x="6480000" y="1800000"/>
          <a:ext cx="5040000" cy="3040000"/>
        </p:xfrm>
        <a:graphic>
          <a:graphicData uri="http://schemas.openxmlformats.org/drawingml/2006/table">
            <a:tbl>
              <a:tblPr firstRow="1" bandRow="1"/>
              <a:tblGrid>
                <a:gridCol w="25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클래스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WatchDogEngine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3개 타이머 감시 루프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ProcessMatcher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WMI 명령줄 매칭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RestartTracker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실패 횟수/쿨다운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ProcessRestarter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Kill + Start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AlarmWriter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SYS_ALARM INSERT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LogWriter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일별 로그 파일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ConfigManager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JSON Load/Save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7" name="TextBox"/>
          <p:cNvSpPr>
            <a:spLocks noGrp="1"/>
          </p:cNvSpPr>
          <p:nvPr/>
        </p:nvSpPr>
        <p:spPr>
          <a:xfrm>
            <a:off x="6480000" y="5040000"/>
            <a:ext cx="5040000" cy="108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200" b="1" dirty="0">
                <a:solidFill>
                  <a:srgbClr val="16A34A"/>
                </a:solidFill>
                <a:latin typeface="맑은 고딕"/>
                <a:ea typeface="맑은 고딕"/>
              </a:rPr>
              <a:t>테스트: </a:t>
            </a:r>
            <a:r>
              <a:rPr lang="ko-KR" sz="1200" b="1" dirty="0" err="1">
                <a:solidFill>
                  <a:srgbClr val="16A34A"/>
                </a:solidFill>
                <a:latin typeface="맑은 고딕"/>
                <a:ea typeface="맑은 고딕"/>
              </a:rPr>
              <a:t>IProcessMonitor</a:t>
            </a:r>
            <a:r>
              <a:rPr lang="ko-KR" sz="1200" b="1" dirty="0">
                <a:solidFill>
                  <a:srgbClr val="16A34A"/>
                </a:solidFill>
                <a:latin typeface="맑은 고딕"/>
                <a:ea typeface="맑은 고딕"/>
              </a:rPr>
              <a:t>, </a:t>
            </a:r>
            <a:r>
              <a:rPr lang="ko-KR" sz="1200" b="1" dirty="0" err="1">
                <a:solidFill>
                  <a:srgbClr val="16A34A"/>
                </a:solidFill>
                <a:latin typeface="맑은 고딕"/>
                <a:ea typeface="맑은 고딕"/>
              </a:rPr>
              <a:t>IProcessRestarter</a:t>
            </a:r>
            <a:r>
              <a:rPr lang="ko-KR" sz="1200" b="1" dirty="0">
                <a:solidFill>
                  <a:srgbClr val="16A34A"/>
                </a:solidFill>
                <a:latin typeface="맑은 고딕"/>
                <a:ea typeface="맑은 고딕"/>
              </a:rPr>
              <a:t>, </a:t>
            </a:r>
            <a:r>
              <a:rPr lang="ko-KR" sz="1200" b="1" dirty="0" err="1">
                <a:solidFill>
                  <a:srgbClr val="16A34A"/>
                </a:solidFill>
                <a:latin typeface="맑은 고딕"/>
                <a:ea typeface="맑은 고딕"/>
              </a:rPr>
              <a:t>IAlarmWriter</a:t>
            </a:r>
            <a:r>
              <a:rPr lang="ko-KR" sz="1200" b="1" dirty="0">
                <a:solidFill>
                  <a:srgbClr val="16A34A"/>
                </a:solidFill>
                <a:latin typeface="맑은 고딕"/>
                <a:ea typeface="맑은 고딕"/>
              </a:rPr>
              <a:t>, </a:t>
            </a:r>
            <a:r>
              <a:rPr lang="ko-KR" sz="1200" b="1" dirty="0" err="1">
                <a:solidFill>
                  <a:srgbClr val="16A34A"/>
                </a:solidFill>
                <a:latin typeface="맑은 고딕"/>
                <a:ea typeface="맑은 고딕"/>
              </a:rPr>
              <a:t>IFileActivityMonitor</a:t>
            </a:r>
            <a:r>
              <a:rPr lang="ko-KR" sz="1200" b="1" dirty="0">
                <a:solidFill>
                  <a:srgbClr val="16A34A"/>
                </a:solidFill>
                <a:latin typeface="맑은 고딕"/>
                <a:ea typeface="맑은 고딕"/>
              </a:rPr>
              <a:t> 인터페이스로 </a:t>
            </a:r>
            <a:r>
              <a:rPr lang="ko-KR" sz="1200" b="1" dirty="0" err="1">
                <a:solidFill>
                  <a:srgbClr val="16A34A"/>
                </a:solidFill>
                <a:latin typeface="맑은 고딕"/>
                <a:ea typeface="맑은 고딕"/>
              </a:rPr>
              <a:t>모킹</a:t>
            </a:r>
            <a:r>
              <a:rPr lang="en-US" altLang="ko-KR" sz="1200" b="1" dirty="0">
                <a:solidFill>
                  <a:srgbClr val="16A34A"/>
                </a:solidFill>
                <a:latin typeface="맑은 고딕"/>
                <a:ea typeface="맑은 고딕"/>
              </a:rPr>
              <a:t>(mocking)</a:t>
            </a:r>
            <a:r>
              <a:rPr lang="ko-KR" sz="1200" b="1" dirty="0">
                <a:solidFill>
                  <a:srgbClr val="16A34A"/>
                </a:solidFill>
                <a:latin typeface="맑은 고딕"/>
                <a:ea typeface="맑은 고딕"/>
              </a:rPr>
              <a:t> 가능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C20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9" name="TextBox"/>
          <p:cNvSpPr>
            <a:spLocks noGrp="1"/>
          </p:cNvSpPr>
          <p:nvPr/>
        </p:nvSpPr>
        <p:spPr>
          <a:xfrm>
            <a:off x="720000" y="140000"/>
            <a:ext cx="10752000" cy="500000"/>
          </a:xfrm>
          <a:prstGeom prst="rect">
            <a:avLst/>
          </a:prstGeom>
        </p:spPr>
        <p:txBody>
          <a:bodyPr wrap="square" anchor="ctr"/>
          <a:lstStyle/>
          <a:p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핵심 로직 흐름</a:t>
            </a:r>
          </a:p>
        </p:txBody>
      </p:sp>
      <p:sp>
        <p:nvSpPr>
          <p:cNvPr id="30" name="Rect"/>
          <p:cNvSpPr/>
          <p:nvPr/>
        </p:nvSpPr>
        <p:spPr>
          <a:xfrm>
            <a:off x="720000" y="1080000"/>
            <a:ext cx="5040000" cy="21600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1" name="TextBox"/>
          <p:cNvSpPr>
            <a:spLocks noGrp="1"/>
          </p:cNvSpPr>
          <p:nvPr/>
        </p:nvSpPr>
        <p:spPr>
          <a:xfrm>
            <a:off x="1080000" y="1188000"/>
            <a:ext cx="4320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500" b="1">
                <a:solidFill>
                  <a:srgbClr val="DC2626"/>
                </a:solidFill>
                <a:latin typeface="맑은 고딕"/>
                <a:ea typeface="맑은 고딕"/>
              </a:rPr>
              <a:t>ERWEKA 감시 (재시작 없음)</a:t>
            </a:r>
          </a:p>
        </p:txBody>
      </p:sp>
      <p:sp>
        <p:nvSpPr>
          <p:cNvPr id="32" name="BulletBox"/>
          <p:cNvSpPr>
            <a:spLocks noGrp="1"/>
          </p:cNvSpPr>
          <p:nvPr/>
        </p:nvSpPr>
        <p:spPr>
          <a:xfrm>
            <a:off x="1080000" y="1728000"/>
            <a:ext cx="4320000" cy="1440000"/>
          </a:xfrm>
          <a:prstGeom prst="rect">
            <a:avLst/>
          </a:prstGeom>
        </p:spPr>
        <p:txBody>
          <a:bodyPr wrap="square" anchor="t"/>
          <a:lstStyle/>
          <a:p>
            <a:pPr marL="457200" indent="-457200">
              <a:buFont typeface="Arial"/>
              <a:buChar char="•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프로세스 실행 + 포트 LISTEN → Healthy</a:t>
            </a:r>
          </a:p>
          <a:p>
            <a:pPr marL="457200" indent="-457200">
              <a:buFont typeface="Arial"/>
              <a:buChar char="•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프로세스 미감지 또는 포트 실패 → Failed</a:t>
            </a:r>
          </a:p>
          <a:p>
            <a:pPr marL="457200" indent="-457200">
              <a:buFont typeface="Arial"/>
              <a:buChar char="•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Failed 전환 시 SYS_ALARM 1회 기록</a:t>
            </a:r>
          </a:p>
          <a:p>
            <a:pPr marL="457200" indent="-457200">
              <a:buFont typeface="Arial"/>
              <a:buChar char="•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복구 시 알람 플래그 리셋</a:t>
            </a:r>
          </a:p>
        </p:txBody>
      </p:sp>
      <p:sp>
        <p:nvSpPr>
          <p:cNvPr id="33" name="Rect"/>
          <p:cNvSpPr/>
          <p:nvPr/>
        </p:nvSpPr>
        <p:spPr>
          <a:xfrm>
            <a:off x="6480000" y="1080000"/>
            <a:ext cx="5040000" cy="216000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4" name="TextBox"/>
          <p:cNvSpPr>
            <a:spLocks noGrp="1"/>
          </p:cNvSpPr>
          <p:nvPr/>
        </p:nvSpPr>
        <p:spPr>
          <a:xfrm>
            <a:off x="6840000" y="1188000"/>
            <a:ext cx="4320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500" b="1">
                <a:solidFill>
                  <a:srgbClr val="2563EB"/>
                </a:solidFill>
                <a:latin typeface="맑은 고딕"/>
                <a:ea typeface="맑은 고딕"/>
              </a:rPr>
              <a:t>TabmachineIF 감시 (자동 재시작)</a:t>
            </a:r>
          </a:p>
        </p:txBody>
      </p:sp>
      <p:sp>
        <p:nvSpPr>
          <p:cNvPr id="35" name="BulletBox"/>
          <p:cNvSpPr>
            <a:spLocks noGrp="1"/>
          </p:cNvSpPr>
          <p:nvPr/>
        </p:nvSpPr>
        <p:spPr>
          <a:xfrm>
            <a:off x="6840000" y="1728000"/>
            <a:ext cx="4320000" cy="1440000"/>
          </a:xfrm>
          <a:prstGeom prst="rect">
            <a:avLst/>
          </a:prstGeom>
        </p:spPr>
        <p:txBody>
          <a:bodyPr wrap="square" anchor="t"/>
          <a:lstStyle/>
          <a:p>
            <a:pPr marL="457200" indent="-457200">
              <a:buFont typeface="Arial"/>
              <a:buChar char="•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프로세스 실행 중 → Healthy (카운터 리셋)</a:t>
            </a:r>
          </a:p>
          <a:p>
            <a:pPr marL="457200" indent="-457200">
              <a:buFont typeface="Arial"/>
              <a:buChar char="•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미감지 + 쿨다운 중 → 스킵</a:t>
            </a:r>
          </a:p>
          <a:p>
            <a:pPr marL="457200" indent="-457200">
              <a:buFont typeface="Arial"/>
              <a:buChar char="•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미감지 → 재시작 시도 (최대 N회)</a:t>
            </a:r>
          </a:p>
          <a:p>
            <a:pPr marL="457200" indent="-457200">
              <a:buFont typeface="Arial"/>
              <a:buChar char="•"/>
            </a:pPr>
            <a:r>
              <a:rPr lang="ko-KR" sz="1200">
                <a:solidFill>
                  <a:srgbClr val="374151"/>
                </a:solidFill>
                <a:latin typeface="맑은 고딕"/>
                <a:ea typeface="맑은 고딕"/>
              </a:rPr>
              <a:t>최종 실패 → Failed + SYS_ALARM 기록</a:t>
            </a:r>
          </a:p>
        </p:txBody>
      </p:sp>
      <p:sp>
        <p:nvSpPr>
          <p:cNvPr id="36" name="TextBox"/>
          <p:cNvSpPr>
            <a:spLocks noGrp="1"/>
          </p:cNvSpPr>
          <p:nvPr/>
        </p:nvSpPr>
        <p:spPr>
          <a:xfrm>
            <a:off x="720000" y="3600000"/>
            <a:ext cx="10800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600" b="1">
                <a:solidFill>
                  <a:srgbClr val="1C2028"/>
                </a:solidFill>
                <a:latin typeface="맑은 고딕"/>
                <a:ea typeface="맑은 고딕"/>
              </a:rPr>
              <a:t>HealthStatus 상태 전이</a:t>
            </a:r>
          </a:p>
        </p:txBody>
      </p:sp>
      <p:graphicFrame>
        <p:nvGraphicFramePr>
          <p:cNvPr id="37" name="Table"/>
          <p:cNvGraphicFramePr>
            <a:graphicFrameLocks noGrp="1"/>
          </p:cNvGraphicFramePr>
          <p:nvPr/>
        </p:nvGraphicFramePr>
        <p:xfrm>
          <a:off x="720000" y="4140000"/>
          <a:ext cx="10800000" cy="2280000"/>
        </p:xfrm>
        <a:graphic>
          <a:graphicData uri="http://schemas.openxmlformats.org/drawingml/2006/table">
            <a:tbl>
              <a:tblPr firstRow="1" bandRow="1"/>
              <a:tblGrid>
                <a:gridCol w="27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0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상태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색상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의미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전환 조건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Healthy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녹색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정상 실행 중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프로세스 감지됨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Warning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주황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경고/서비스 모드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서비스에서 미감지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Restarting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파랑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재시작 시도 중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재시작 실행 중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Failed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빨강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복구 실패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최대 시도 초과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Disabled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회색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감시 비활성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프로세스 미설정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Rect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C20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9" name="TextBox"/>
          <p:cNvSpPr>
            <a:spLocks noGrp="1"/>
          </p:cNvSpPr>
          <p:nvPr/>
        </p:nvSpPr>
        <p:spPr>
          <a:xfrm>
            <a:off x="720000" y="140000"/>
            <a:ext cx="10752000" cy="500000"/>
          </a:xfrm>
          <a:prstGeom prst="rect">
            <a:avLst/>
          </a:prstGeom>
        </p:spPr>
        <p:txBody>
          <a:bodyPr wrap="square" anchor="ctr"/>
          <a:lstStyle/>
          <a:p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빌드 및 배포</a:t>
            </a:r>
          </a:p>
        </p:txBody>
      </p:sp>
      <p:sp>
        <p:nvSpPr>
          <p:cNvPr id="40" name="TextBox"/>
          <p:cNvSpPr>
            <a:spLocks noGrp="1"/>
          </p:cNvSpPr>
          <p:nvPr/>
        </p:nvSpPr>
        <p:spPr>
          <a:xfrm>
            <a:off x="720000" y="1080000"/>
            <a:ext cx="10800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600" b="1">
                <a:solidFill>
                  <a:srgbClr val="1C2028"/>
                </a:solidFill>
                <a:latin typeface="맑은 고딕"/>
                <a:ea typeface="맑은 고딕"/>
              </a:rPr>
              <a:t>빌드 명령어</a:t>
            </a:r>
          </a:p>
        </p:txBody>
      </p:sp>
      <p:graphicFrame>
        <p:nvGraphicFramePr>
          <p:cNvPr id="41" name="Table"/>
          <p:cNvGraphicFramePr>
            <a:graphicFrameLocks noGrp="1"/>
          </p:cNvGraphicFramePr>
          <p:nvPr/>
        </p:nvGraphicFramePr>
        <p:xfrm>
          <a:off x="720000" y="1620000"/>
          <a:ext cx="10800000" cy="2500000"/>
        </p:xfrm>
        <a:graphic>
          <a:graphicData uri="http://schemas.openxmlformats.org/drawingml/2006/table">
            <a:tbl>
              <a:tblPr firstRow="1" bandRow="1"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작업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명령어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출력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실행 파일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dotnet publish -c Release
-r win-x64 --self-contained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bin/publish/win-x64/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인스톨러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.\build_installer.ps1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Installer/Output/*.exe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패치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.\build_patch.ps1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Installer/Patch/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테스트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dotnet test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 dirty="0" err="1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xUnit</a:t>
                      </a:r>
                      <a:r>
                        <a:rPr lang="ko-KR" sz="1200" b="0" dirty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 결과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2" name="TextBox"/>
          <p:cNvSpPr>
            <a:spLocks noGrp="1"/>
          </p:cNvSpPr>
          <p:nvPr/>
        </p:nvSpPr>
        <p:spPr>
          <a:xfrm>
            <a:off x="720000" y="4186030"/>
            <a:ext cx="10800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600" b="1">
                <a:solidFill>
                  <a:srgbClr val="1C2028"/>
                </a:solidFill>
                <a:latin typeface="맑은 고딕"/>
                <a:ea typeface="맑은 고딕"/>
              </a:rPr>
              <a:t>빌드 환경 요구사항</a:t>
            </a:r>
          </a:p>
        </p:txBody>
      </p:sp>
      <p:sp>
        <p:nvSpPr>
          <p:cNvPr id="43" name="BulletBox"/>
          <p:cNvSpPr>
            <a:spLocks noGrp="1"/>
          </p:cNvSpPr>
          <p:nvPr/>
        </p:nvSpPr>
        <p:spPr>
          <a:xfrm>
            <a:off x="720000" y="4500000"/>
            <a:ext cx="10800000" cy="1080000"/>
          </a:xfrm>
          <a:prstGeom prst="rect">
            <a:avLst/>
          </a:prstGeom>
        </p:spPr>
        <p:txBody>
          <a:bodyPr wrap="square" anchor="t"/>
          <a:lstStyle/>
          <a:p>
            <a:pPr marL="457200" indent="-457200">
              <a:buFont typeface="Arial"/>
              <a:buChar char="•"/>
            </a:pPr>
            <a:r>
              <a:rPr lang="ko-KR" sz="1300" dirty="0">
                <a:solidFill>
                  <a:srgbClr val="374151"/>
                </a:solidFill>
                <a:latin typeface="맑은 고딕"/>
                <a:ea typeface="맑은 고딕"/>
              </a:rPr>
              <a:t>.NET 8.0 SDK</a:t>
            </a:r>
          </a:p>
          <a:p>
            <a:pPr marL="457200" indent="-457200">
              <a:buFont typeface="Arial"/>
              <a:buChar char="•"/>
            </a:pPr>
            <a:r>
              <a:rPr lang="ko-KR" sz="1300" dirty="0" err="1">
                <a:solidFill>
                  <a:srgbClr val="374151"/>
                </a:solidFill>
                <a:latin typeface="맑은 고딕"/>
                <a:ea typeface="맑은 고딕"/>
              </a:rPr>
              <a:t>Inno</a:t>
            </a:r>
            <a:r>
              <a:rPr lang="ko-KR" sz="1300" dirty="0">
                <a:solidFill>
                  <a:srgbClr val="374151"/>
                </a:solidFill>
                <a:latin typeface="맑은 고딕"/>
                <a:ea typeface="맑은 고딕"/>
              </a:rPr>
              <a:t> </a:t>
            </a:r>
            <a:r>
              <a:rPr lang="ko-KR" sz="1300" dirty="0" err="1">
                <a:solidFill>
                  <a:srgbClr val="374151"/>
                </a:solidFill>
                <a:latin typeface="맑은 고딕"/>
                <a:ea typeface="맑은 고딕"/>
              </a:rPr>
              <a:t>Setup</a:t>
            </a:r>
            <a:r>
              <a:rPr lang="ko-KR" sz="1300" dirty="0">
                <a:solidFill>
                  <a:srgbClr val="374151"/>
                </a:solidFill>
                <a:latin typeface="맑은 고딕"/>
                <a:ea typeface="맑은 고딕"/>
              </a:rPr>
              <a:t> 6 (</a:t>
            </a:r>
            <a:r>
              <a:rPr lang="ko-KR" sz="1300" dirty="0" err="1">
                <a:solidFill>
                  <a:srgbClr val="374151"/>
                </a:solidFill>
                <a:latin typeface="맑은 고딕"/>
                <a:ea typeface="맑은 고딕"/>
              </a:rPr>
              <a:t>인스톨러</a:t>
            </a:r>
            <a:r>
              <a:rPr lang="ko-KR" sz="1300" dirty="0">
                <a:solidFill>
                  <a:srgbClr val="374151"/>
                </a:solidFill>
                <a:latin typeface="맑은 고딕"/>
                <a:ea typeface="맑은 고딕"/>
              </a:rPr>
              <a:t> 빌드 시) — jrsoftware.org</a:t>
            </a:r>
          </a:p>
          <a:p>
            <a:pPr marL="457200" indent="-457200">
              <a:buFont typeface="Arial"/>
              <a:buChar char="•"/>
            </a:pPr>
            <a:r>
              <a:rPr lang="ko-KR" sz="1300" dirty="0" err="1">
                <a:solidFill>
                  <a:srgbClr val="374151"/>
                </a:solidFill>
                <a:latin typeface="맑은 고딕"/>
                <a:ea typeface="맑은 고딕"/>
              </a:rPr>
              <a:t>PowerShell</a:t>
            </a:r>
            <a:r>
              <a:rPr lang="ko-KR" sz="1300" dirty="0">
                <a:solidFill>
                  <a:srgbClr val="374151"/>
                </a:solidFill>
                <a:latin typeface="맑은 고딕"/>
                <a:ea typeface="맑은 고딕"/>
              </a:rPr>
              <a:t> 5.1+</a:t>
            </a:r>
          </a:p>
        </p:txBody>
      </p:sp>
      <p:sp>
        <p:nvSpPr>
          <p:cNvPr id="44" name="TextBox"/>
          <p:cNvSpPr>
            <a:spLocks noGrp="1"/>
          </p:cNvSpPr>
          <p:nvPr/>
        </p:nvSpPr>
        <p:spPr>
          <a:xfrm>
            <a:off x="720000" y="5580000"/>
            <a:ext cx="10800000" cy="72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16A34A"/>
                </a:solidFill>
                <a:latin typeface="맑은 고딕"/>
                <a:ea typeface="맑은 고딕"/>
              </a:rPr>
              <a:t>배포: Self-Contained 단일 EXE (~75MB, .NET 런타임 포함) → 대상 PC에 .NET 설치 불필요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"/>
          <p:cNvSpPr/>
          <p:nvPr/>
        </p:nvSpPr>
        <p:spPr>
          <a:xfrm>
            <a:off x="0" y="0"/>
            <a:ext cx="12192000" cy="700000"/>
          </a:xfrm>
          <a:prstGeom prst="rect">
            <a:avLst/>
          </a:prstGeom>
          <a:solidFill>
            <a:srgbClr val="1C202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6" name="TextBox"/>
          <p:cNvSpPr>
            <a:spLocks noGrp="1"/>
          </p:cNvSpPr>
          <p:nvPr/>
        </p:nvSpPr>
        <p:spPr>
          <a:xfrm>
            <a:off x="720000" y="140000"/>
            <a:ext cx="10752000" cy="500000"/>
          </a:xfrm>
          <a:prstGeom prst="rect">
            <a:avLst/>
          </a:prstGeom>
        </p:spPr>
        <p:txBody>
          <a:bodyPr wrap="square" anchor="ctr"/>
          <a:lstStyle/>
          <a:p>
            <a:pPr algn="l"/>
            <a:r>
              <a:rPr lang="ko-KR" sz="2400" b="1">
                <a:solidFill>
                  <a:srgbClr val="FFFFFF"/>
                </a:solidFill>
                <a:latin typeface="맑은 고딕"/>
                <a:ea typeface="맑은 고딕"/>
              </a:rPr>
              <a:t>유지보수 포인트</a:t>
            </a:r>
          </a:p>
        </p:txBody>
      </p:sp>
      <p:sp>
        <p:nvSpPr>
          <p:cNvPr id="47" name="TextBox"/>
          <p:cNvSpPr>
            <a:spLocks noGrp="1"/>
          </p:cNvSpPr>
          <p:nvPr/>
        </p:nvSpPr>
        <p:spPr>
          <a:xfrm>
            <a:off x="720000" y="1080000"/>
            <a:ext cx="10800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600" b="1">
                <a:solidFill>
                  <a:srgbClr val="1C2028"/>
                </a:solidFill>
                <a:latin typeface="맑은 고딕"/>
                <a:ea typeface="맑은 고딕"/>
              </a:rPr>
              <a:t>주요 경로</a:t>
            </a:r>
          </a:p>
        </p:txBody>
      </p:sp>
      <p:graphicFrame>
        <p:nvGraphicFramePr>
          <p:cNvPr id="48" name="Table"/>
          <p:cNvGraphicFramePr>
            <a:graphicFrameLocks noGrp="1"/>
          </p:cNvGraphicFramePr>
          <p:nvPr/>
        </p:nvGraphicFramePr>
        <p:xfrm>
          <a:off x="720000" y="1620000"/>
          <a:ext cx="10800000" cy="2220000"/>
        </p:xfrm>
        <a:graphic>
          <a:graphicData uri="http://schemas.openxmlformats.org/drawingml/2006/table">
            <a:tbl>
              <a:tblPr firstRow="1" bandRow="1"/>
              <a:tblGrid>
                <a:gridCol w="54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000"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항목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1">
                          <a:solidFill>
                            <a:srgbClr val="FFFFFF"/>
                          </a:solidFill>
                          <a:latin typeface="맑은 고딕"/>
                          <a:ea typeface="맑은 고딕"/>
                        </a:rPr>
                        <a:t>경로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>
                      <a:noFill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1C202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설치 경로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C:\Program Files\InterfaceWatchDog\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감시 설정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%ProgramData%\InterfaceWatchDog\config.json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DB 설정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%ProgramData%\InterfaceWatchDog\dbconfig.json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로그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%ProgramData%\InterfaceWatchDog\Logs\watchdog_*.log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000"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레지스트리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sz="1200" b="0">
                          <a:solidFill>
                            <a:srgbClr val="333333"/>
                          </a:solidFill>
                          <a:latin typeface="맑은 고딕"/>
                          <a:ea typeface="맑은 고딕"/>
                        </a:rPr>
                        <a:t>HKLM\SOFTWARE\InterfaceWatchDog</a:t>
                      </a:r>
                    </a:p>
                  </a:txBody>
                  <a:tcPr>
                    <a:lnL w="12700">
                      <a:noFill/>
                    </a:lnL>
                    <a:lnR w="12700">
                      <a:noFill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E0E0E0"/>
                      </a:solidFill>
                      <a:prstDash val="solid"/>
                    </a:lnB>
                    <a:solidFill>
                      <a:srgbClr val="F5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9" name="TextBox"/>
          <p:cNvSpPr>
            <a:spLocks noGrp="1"/>
          </p:cNvSpPr>
          <p:nvPr/>
        </p:nvSpPr>
        <p:spPr>
          <a:xfrm>
            <a:off x="720000" y="3960000"/>
            <a:ext cx="10800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600" b="1">
                <a:solidFill>
                  <a:srgbClr val="1C2028"/>
                </a:solidFill>
                <a:latin typeface="맑은 고딕"/>
                <a:ea typeface="맑은 고딕"/>
              </a:rPr>
              <a:t>감시 대상 추가 시 수정 포인트</a:t>
            </a:r>
          </a:p>
        </p:txBody>
      </p:sp>
      <p:sp>
        <p:nvSpPr>
          <p:cNvPr id="50" name="BulletBox"/>
          <p:cNvSpPr>
            <a:spLocks noGrp="1"/>
          </p:cNvSpPr>
          <p:nvPr/>
        </p:nvSpPr>
        <p:spPr>
          <a:xfrm>
            <a:off x="720000" y="4500000"/>
            <a:ext cx="10800000" cy="1800000"/>
          </a:xfrm>
          <a:prstGeom prst="rect">
            <a:avLst/>
          </a:prstGeom>
        </p:spPr>
        <p:txBody>
          <a:bodyPr wrap="square" anchor="t"/>
          <a:lstStyle/>
          <a:p>
            <a:pPr marL="457200" indent="-457200">
              <a:buFont typeface="Arial"/>
              <a:buChar char="•"/>
            </a:pPr>
            <a:r>
              <a:rPr lang="ko-KR" sz="1300" dirty="0" err="1">
                <a:solidFill>
                  <a:srgbClr val="374151"/>
                </a:solidFill>
                <a:latin typeface="맑은 고딕"/>
                <a:ea typeface="맑은 고딕"/>
              </a:rPr>
              <a:t>AppConfig.cs</a:t>
            </a:r>
            <a:r>
              <a:rPr lang="ko-KR" sz="1300" dirty="0">
                <a:solidFill>
                  <a:srgbClr val="374151"/>
                </a:solidFill>
                <a:latin typeface="맑은 고딕"/>
                <a:ea typeface="맑은 고딕"/>
              </a:rPr>
              <a:t> — 새 </a:t>
            </a:r>
            <a:r>
              <a:rPr lang="ko-KR" sz="1300" dirty="0" err="1">
                <a:solidFill>
                  <a:srgbClr val="374151"/>
                </a:solidFill>
                <a:latin typeface="맑은 고딕"/>
                <a:ea typeface="맑은 고딕"/>
              </a:rPr>
              <a:t>Config</a:t>
            </a:r>
            <a:r>
              <a:rPr lang="ko-KR" sz="1300" dirty="0">
                <a:solidFill>
                  <a:srgbClr val="374151"/>
                </a:solidFill>
                <a:latin typeface="맑은 고딕"/>
                <a:ea typeface="맑은 고딕"/>
              </a:rPr>
              <a:t> 클래스 추가</a:t>
            </a:r>
          </a:p>
          <a:p>
            <a:pPr marL="457200" indent="-457200">
              <a:buFont typeface="Arial"/>
              <a:buChar char="•"/>
            </a:pPr>
            <a:r>
              <a:rPr lang="ko-KR" sz="1300" dirty="0" err="1">
                <a:solidFill>
                  <a:srgbClr val="374151"/>
                </a:solidFill>
                <a:latin typeface="맑은 고딕"/>
                <a:ea typeface="맑은 고딕"/>
              </a:rPr>
              <a:t>WatchDogEngine.cs</a:t>
            </a:r>
            <a:r>
              <a:rPr lang="ko-KR" sz="1300" dirty="0">
                <a:solidFill>
                  <a:srgbClr val="374151"/>
                </a:solidFill>
                <a:latin typeface="맑은 고딕"/>
                <a:ea typeface="맑은 고딕"/>
              </a:rPr>
              <a:t> — 새 타이머 + </a:t>
            </a:r>
            <a:r>
              <a:rPr lang="ko-KR" sz="1300" dirty="0" err="1">
                <a:solidFill>
                  <a:srgbClr val="374151"/>
                </a:solidFill>
                <a:latin typeface="맑은 고딕"/>
                <a:ea typeface="맑은 고딕"/>
              </a:rPr>
              <a:t>Check</a:t>
            </a:r>
            <a:r>
              <a:rPr lang="ko-KR" sz="1300" dirty="0">
                <a:solidFill>
                  <a:srgbClr val="374151"/>
                </a:solidFill>
                <a:latin typeface="맑은 고딕"/>
                <a:ea typeface="맑은 고딕"/>
              </a:rPr>
              <a:t> 메서드 추가</a:t>
            </a:r>
          </a:p>
          <a:p>
            <a:pPr marL="457200" indent="-457200">
              <a:buFont typeface="Arial"/>
              <a:buChar char="•"/>
            </a:pPr>
            <a:r>
              <a:rPr lang="ko-KR" sz="1300" dirty="0" err="1">
                <a:solidFill>
                  <a:srgbClr val="374151"/>
                </a:solidFill>
                <a:latin typeface="맑은 고딕"/>
                <a:ea typeface="맑은 고딕"/>
              </a:rPr>
              <a:t>MainStatusForm.cs</a:t>
            </a:r>
            <a:r>
              <a:rPr lang="ko-KR" sz="1300" dirty="0">
                <a:solidFill>
                  <a:srgbClr val="374151"/>
                </a:solidFill>
                <a:latin typeface="맑은 고딕"/>
                <a:ea typeface="맑은 고딕"/>
              </a:rPr>
              <a:t> — 상태 카드 UI 추가</a:t>
            </a:r>
          </a:p>
          <a:p>
            <a:pPr marL="457200" indent="-457200">
              <a:buFont typeface="Arial"/>
              <a:buChar char="•"/>
            </a:pPr>
            <a:r>
              <a:rPr lang="ko-KR" sz="1300" dirty="0" err="1">
                <a:solidFill>
                  <a:srgbClr val="374151"/>
                </a:solidFill>
                <a:latin typeface="맑은 고딕"/>
                <a:ea typeface="맑은 고딕"/>
              </a:rPr>
              <a:t>SettingsForm.cs</a:t>
            </a:r>
            <a:r>
              <a:rPr lang="ko-KR" sz="1300" dirty="0">
                <a:solidFill>
                  <a:srgbClr val="374151"/>
                </a:solidFill>
                <a:latin typeface="맑은 고딕"/>
                <a:ea typeface="맑은 고딕"/>
              </a:rPr>
              <a:t> — 설정 탭 추가</a:t>
            </a:r>
          </a:p>
          <a:p>
            <a:pPr marL="457200" indent="-457200">
              <a:buFont typeface="Arial"/>
              <a:buChar char="•"/>
            </a:pPr>
            <a:r>
              <a:rPr lang="ko-KR" sz="1300" dirty="0" err="1">
                <a:solidFill>
                  <a:srgbClr val="374151"/>
                </a:solidFill>
                <a:latin typeface="맑은 고딕"/>
                <a:ea typeface="맑은 고딕"/>
              </a:rPr>
              <a:t>config.json</a:t>
            </a:r>
            <a:r>
              <a:rPr lang="ko-KR" sz="1300" dirty="0">
                <a:solidFill>
                  <a:srgbClr val="374151"/>
                </a:solidFill>
                <a:latin typeface="맑은 고딕"/>
                <a:ea typeface="맑은 고딕"/>
              </a:rPr>
              <a:t> — 새 섹션 추가</a:t>
            </a:r>
          </a:p>
        </p:txBody>
      </p:sp>
      <p:sp>
        <p:nvSpPr>
          <p:cNvPr id="51" name="TextBox"/>
          <p:cNvSpPr>
            <a:spLocks noGrp="1"/>
          </p:cNvSpPr>
          <p:nvPr/>
        </p:nvSpPr>
        <p:spPr>
          <a:xfrm>
            <a:off x="720000" y="6120000"/>
            <a:ext cx="10800000" cy="360000"/>
          </a:xfrm>
          <a:prstGeom prst="rect">
            <a:avLst/>
          </a:prstGeom>
        </p:spPr>
        <p:txBody>
          <a:bodyPr wrap="square" anchor="t"/>
          <a:lstStyle/>
          <a:p>
            <a:pPr algn="l"/>
            <a:r>
              <a:rPr lang="ko-KR" sz="1400" b="1">
                <a:solidFill>
                  <a:srgbClr val="2563EB"/>
                </a:solidFill>
                <a:latin typeface="맑은 고딕"/>
                <a:ea typeface="맑은 고딕"/>
              </a:rPr>
              <a:t>상세 인수인계 문서: Docs/HANDOVER.md 참조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terfaceWatchDog">
  <a:themeElements>
    <a:clrScheme name="InterfaceWatchDog">
      <a:dk1>
        <a:sysClr val="windowText" lastClr="000000"/>
      </a:dk1>
      <a:lt1>
        <a:sysClr val="window" lastClr="FFFFFF"/>
      </a:lt1>
      <a:dk2>
        <a:srgbClr val="1C2028"/>
      </a:dk2>
      <a:lt2>
        <a:srgbClr val="F5F6FA"/>
      </a:lt2>
      <a:accent1>
        <a:srgbClr val="2563EB"/>
      </a:accent1>
      <a:accent2>
        <a:srgbClr val="16A34A"/>
      </a:accent2>
      <a:accent3>
        <a:srgbClr val="DC2626"/>
      </a:accent3>
      <a:accent4>
        <a:srgbClr val="8B5CF6"/>
      </a:accent4>
      <a:accent5>
        <a:srgbClr val="F59E0B"/>
      </a:accent5>
      <a:accent6>
        <a:srgbClr val="06B6D4"/>
      </a:accent6>
      <a:hlink>
        <a:srgbClr val="2563EB"/>
      </a:hlink>
      <a:folHlink>
        <a:srgbClr val="8B5CF6"/>
      </a:folHlink>
    </a:clrScheme>
    <a:fontScheme name="InterfaceWatchDog">
      <a:majorFont>
        <a:latin typeface="맑은 고딕"/>
        <a:ea typeface="맑은 고딕"/>
        <a:cs typeface="맑은 고딕"/>
      </a:majorFont>
      <a:minorFont>
        <a:latin typeface="맑은 고딕"/>
        <a:ea typeface="맑은 고딕"/>
        <a:cs typeface="맑은 고딕"/>
      </a:minorFont>
    </a:fontScheme>
    <a:fmtScheme name="InterfaceWatchDog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9525">
          <a:solidFill>
            <a:schemeClr val="phClr"/>
          </a:solidFill>
        </a:ln>
        <a:ln w="9525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172</TotalTime>
  <Words>1656</Words>
  <Application>Microsoft Office PowerPoint</Application>
  <PresentationFormat>와이드스크린</PresentationFormat>
  <Paragraphs>246</Paragraphs>
  <Slides>7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InterfaceWatchDog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감프정보기술(주)-5</cp:lastModifiedBy>
  <cp:revision>12</cp:revision>
  <dcterms:modified xsi:type="dcterms:W3CDTF">2026-06-22T05:40:22Z</dcterms:modified>
</cp:coreProperties>
</file>