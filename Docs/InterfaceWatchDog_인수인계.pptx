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c07363714314e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1"/>
  </p:sldMasterIdLst>
  <p:sldIdLst>
    <p:sldId xmlns:r="http://schemas.openxmlformats.org/officeDocument/2006/relationships" id="256" r:id="rId100"/>
    <p:sldId xmlns:r="http://schemas.openxmlformats.org/officeDocument/2006/relationships" id="257" r:id="rId101"/>
    <p:sldId xmlns:r="http://schemas.openxmlformats.org/officeDocument/2006/relationships" id="258" r:id="rId102"/>
    <p:sldId xmlns:r="http://schemas.openxmlformats.org/officeDocument/2006/relationships" id="259" r:id="rId103"/>
    <p:sldId xmlns:r="http://schemas.openxmlformats.org/officeDocument/2006/relationships" id="260" r:id="rId104"/>
    <p:sldId xmlns:r="http://schemas.openxmlformats.org/officeDocument/2006/relationships" id="261" r:id="rId105"/>
    <p:sldId xmlns:r="http://schemas.openxmlformats.org/officeDocument/2006/relationships" id="262" r:id="rId106"/>
  </p:sldIdLst>
  <p:sldSz cx="12192000" cy="6858000" type="custom"/>
  <p:notesSz cx="6858000" cy="12192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slideMasters/theme/theme1.xml" Id="rId2" /><Relationship Type="http://schemas.openxmlformats.org/officeDocument/2006/relationships/slide" Target="/ppt/slides/slide1.xml" Id="rId100" /><Relationship Type="http://schemas.openxmlformats.org/officeDocument/2006/relationships/slide" Target="/ppt/slides/slide2.xml" Id="rId101" /><Relationship Type="http://schemas.openxmlformats.org/officeDocument/2006/relationships/slide" Target="/ppt/slides/slide3.xml" Id="rId102" /><Relationship Type="http://schemas.openxmlformats.org/officeDocument/2006/relationships/slide" Target="/ppt/slides/slide4.xml" Id="rId103" /><Relationship Type="http://schemas.openxmlformats.org/officeDocument/2006/relationships/slide" Target="/ppt/slides/slide5.xml" Id="rId104" /><Relationship Type="http://schemas.openxmlformats.org/officeDocument/2006/relationships/slide" Target="/ppt/slides/slide6.xml" Id="rId105" /><Relationship Type="http://schemas.openxmlformats.org/officeDocument/2006/relationships/slide" Target="/ppt/slides/slide7.xml" Id="rId1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ko-KR" sz="1200"/>
              <a:t>이 프로그램은 공장에서 사용하는 두 가지 인터페이스 프로그램이 정상적으로 동작하는지 감시하는 프로그램입니다.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ERWEKA Export Manager: 장비에서 측정 데이터를 내보내는 Java 기반 프로그램입니다.
</a:t>
            </a:r>
          </a:p>
          <a:p xmlns:a="http://schemas.openxmlformats.org/drawingml/2006/main">
            <a:r>
              <a:rPr lang="ko-KR" sz="1200"/>
              <a:t>TabmachineIF: ERWEKA에서 전달받은 PDF 파일을 처리하는 인터페이스 프로그램입니다.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이 두 프로그램이 갑자기 꺼지면 생산 데이터가 유실될 수 있기 때문에,
</a:t>
            </a:r>
          </a:p>
          <a:p xmlns:a="http://schemas.openxmlformats.org/drawingml/2006/main">
            <a:r>
              <a:rPr lang="ko-KR" sz="1200"/>
              <a:t>InterfaceWatchDog가 주기적으로 확인하고 문제가 생기면 자동으로 재시작하거나 알람을 보냅니다.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이 PPT는 이 프로그램을 앞으로 유지보수할 개발자를 위한 기술 인수인계 자료입니다.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ko-KR" sz="1200"/>
              <a:t>이 섹션에서는 다음 5가지를 다룹니다.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1. 시스템 아키텍처: 프로그램이 어떤 구조로 되어 있는지 큰 그림을 봅니다.
</a:t>
            </a:r>
          </a:p>
          <a:p xmlns:a="http://schemas.openxmlformats.org/drawingml/2006/main">
            <a:r>
              <a:rPr lang="ko-KR" sz="1200"/>
              <a:t>2. 코드 구조: 소스 코드 폴더와 파일이 어떻게 나뉘어 있는지, 수정할 때 어디를 봐야 하는지 알려드립니다.
</a:t>
            </a:r>
          </a:p>
          <a:p xmlns:a="http://schemas.openxmlformats.org/drawingml/2006/main">
            <a:r>
              <a:rPr lang="ko-KR" sz="1200"/>
              <a:t>3. 핵심 로직: 감시 → 장애 감지 → 재시작 → 알람까지의 동작 흐름을 설명합니다.
</a:t>
            </a:r>
          </a:p>
          <a:p xmlns:a="http://schemas.openxmlformats.org/drawingml/2006/main">
            <a:r>
              <a:rPr lang="ko-KR" sz="1200"/>
              <a:t>4. 빌드/배포: 소스 코드를 실행 파일로 만들고 현장에 배포하는 방법입니다.
</a:t>
            </a:r>
          </a:p>
          <a:p xmlns:a="http://schemas.openxmlformats.org/drawingml/2006/main">
            <a:r>
              <a:rPr lang="ko-KR" sz="1200"/>
              <a:t>5. 유지보수: 운영 중 자주 확인하게 될 경로와 새 기능 추가 시 수정해야 할 파일들입니다.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상세 내용은 Docs/HANDOVER.md 문서에도 정리되어 있으니 함께 참고하세요.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ko-KR" sz="1200"/>
              <a:t>이 프로그램은 두 가지 모드로 실행될 수 있습니다.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[감시프로그램 모드]
</a:t>
            </a:r>
          </a:p>
          <a:p xmlns:a="http://schemas.openxmlformats.org/drawingml/2006/main">
            <a:r>
              <a:rPr lang="ko-KR" sz="1200"/>
              <a:t>사용자가 Windows에 로그인한 상태에서 실행됩니다.
</a:t>
            </a:r>
          </a:p>
          <a:p xmlns:a="http://schemas.openxmlformats.org/drawingml/2006/main">
            <a:r>
              <a:rPr lang="ko-KR" sz="1200"/>
              <a:t>화면 오른쪽 아래 시스템 트레이에 아이콘이 표시되고, 대시보드도 볼 수 있습니다.
</a:t>
            </a:r>
          </a:p>
          <a:p xmlns:a="http://schemas.openxmlformats.org/drawingml/2006/main">
            <a:r>
              <a:rPr lang="ko-KR" sz="1200"/>
              <a:t>가장 중요한 점은 프로세스가 죽었을 때 "자동 재시작"을 할 수 있다는 것입니다.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[Windows 서비스 모드]
</a:t>
            </a:r>
          </a:p>
          <a:p xmlns:a="http://schemas.openxmlformats.org/drawingml/2006/main">
            <a:r>
              <a:rPr lang="ko-KR" sz="1200"/>
              <a:t>PC가 켜지면 아무도 로그인하지 않아도 자동으로 시작됩니다.
</a:t>
            </a:r>
          </a:p>
          <a:p xmlns:a="http://schemas.openxmlformats.org/drawingml/2006/main">
            <a:r>
              <a:rPr lang="ko-KR" sz="1200"/>
              <a:t>하지만 "Session 0"이라는 특별한 영역에서 실행되기 때문에 화면에 아무것도 표시할 수 없고,
</a:t>
            </a:r>
          </a:p>
          <a:p xmlns:a="http://schemas.openxmlformats.org/drawingml/2006/main">
            <a:r>
              <a:rPr lang="ko-KR" sz="1200"/>
              <a:t>다른 프로그램을 실행시켜도 사용자 화면에 나타나지 않습니다.
</a:t>
            </a:r>
          </a:p>
          <a:p xmlns:a="http://schemas.openxmlformats.org/drawingml/2006/main">
            <a:r>
              <a:rPr lang="ko-KR" sz="1200"/>
              <a:t>그래서 감시만 하고, 재시작은 하지 않습니다.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[왜 둘 다 필요한가?]
</a:t>
            </a:r>
          </a:p>
          <a:p xmlns:a="http://schemas.openxmlformats.org/drawingml/2006/main">
            <a:r>
              <a:rPr lang="ko-KR" sz="1200"/>
              <a:t>서비스가 PC 부팅 시 바로 감시를 시작하고,
</a:t>
            </a:r>
          </a:p>
          <a:p xmlns:a="http://schemas.openxmlformats.org/drawingml/2006/main">
            <a:r>
              <a:rPr lang="ko-KR" sz="1200"/>
              <a:t>사용자가 로그인하면 감시프로그램이 실제 재시작을 처리합니다.
</a:t>
            </a:r>
          </a:p>
          <a:p xmlns:a="http://schemas.openxmlformats.org/drawingml/2006/main">
            <a:r>
              <a:rPr lang="ko-KR" sz="1200"/>
              <a:t>두 모드는 같은 설정 파일(config.json, dbconfig.json)을 공유합니다.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[공유 리소스 경로]
</a:t>
            </a:r>
          </a:p>
          <a:p xmlns:a="http://schemas.openxmlformats.org/drawingml/2006/main">
            <a:r>
              <a:rPr lang="ko-KR" sz="1200"/>
              <a:t>설정과 로그는 C:\ProgramData\InterfaceWatchDog\ 에 저장됩니다.
</a:t>
            </a:r>
          </a:p>
          <a:p xmlns:a="http://schemas.openxmlformats.org/drawingml/2006/main">
            <a:r>
              <a:rPr lang="ko-KR" sz="1200"/>
              <a:t>이 경로는 모든 사용자와 서비스가 접근할 수 있는 공용 폴더입니다.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ko-KR" sz="1200"/>
              <a:t>소스 코드는 크게 4개 영역으로 나뉩니다.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[Core 폴더 — 프로그램의 두뇌]
</a:t>
            </a:r>
          </a:p>
          <a:p xmlns:a="http://schemas.openxmlformats.org/drawingml/2006/main">
            <a:r>
              <a:rPr lang="ko-KR" sz="1200"/>
              <a:t>WatchDogEngine.cs가 가장 핵심입니다. 타이머 3개를 돌려서 ERWEKA, TabmachineIF, PDF 폴더를 각각 독립적으로 감시합니다.
</a:t>
            </a:r>
          </a:p>
          <a:p xmlns:a="http://schemas.openxmlformats.org/drawingml/2006/main">
            <a:r>
              <a:rPr lang="ko-KR" sz="1200"/>
              <a:t>ProcessMatcher.cs는 "이 프로세스가 진짜 우리가 찾는 프로세스인가?"를 판별합니다.
</a:t>
            </a:r>
          </a:p>
          <a:p xmlns:a="http://schemas.openxmlformats.org/drawingml/2006/main">
            <a:r>
              <a:rPr lang="ko-KR" sz="1200"/>
              <a:t>예를 들어 javaw.exe가 여러 개 실행 중일 때, 명령줄 인수를 비교해서 ERWEKA만 골라냅니다.
</a:t>
            </a:r>
          </a:p>
          <a:p xmlns:a="http://schemas.openxmlformats.org/drawingml/2006/main">
            <a:r>
              <a:rPr lang="ko-KR" sz="1200"/>
              <a:t>RestartTracker.cs는 "재시작을 몇 번 시도했나, 쿨다운 시간이 지났나"를 추적합니다.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[Actions 폴더 — 실제로 뭔가를 하는 클래스들]
</a:t>
            </a:r>
          </a:p>
          <a:p xmlns:a="http://schemas.openxmlformats.org/drawingml/2006/main">
            <a:r>
              <a:rPr lang="ko-KR" sz="1200"/>
              <a:t>ProcessRestarter: 프로세스를 죽이고 새로 실행합니다.
</a:t>
            </a:r>
          </a:p>
          <a:p xmlns:a="http://schemas.openxmlformats.org/drawingml/2006/main">
            <a:r>
              <a:rPr lang="ko-KR" sz="1200"/>
              <a:t>AlarmWriter: DB의 SYS_ALARM 테이블에 알람을 기록합니다.
</a:t>
            </a:r>
          </a:p>
          <a:p xmlns:a="http://schemas.openxmlformats.org/drawingml/2006/main">
            <a:r>
              <a:rPr lang="ko-KR" sz="1200"/>
              <a:t>LogWriter: 매일 새 로그 파일을 만들어 기록합니다.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[Models 폴더 — 데이터 구조]
</a:t>
            </a:r>
          </a:p>
          <a:p xmlns:a="http://schemas.openxmlformats.org/drawingml/2006/main">
            <a:r>
              <a:rPr lang="ko-KR" sz="1200"/>
              <a:t>AppConfig: config.json의 내용을 담는 클래스입니다.
</a:t>
            </a:r>
          </a:p>
          <a:p xmlns:a="http://schemas.openxmlformats.org/drawingml/2006/main">
            <a:r>
              <a:rPr lang="ko-KR" sz="1200"/>
              <a:t>ProgramStatus: 각 프로그램의 현재 상태(정상/경고/재시작중/실패 등)를 담습니다.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[테스트 관련]
</a:t>
            </a:r>
          </a:p>
          <a:p xmlns:a="http://schemas.openxmlformats.org/drawingml/2006/main">
            <a:r>
              <a:rPr lang="ko-KR" sz="1200"/>
              <a:t>핵심 클래스들은 인터페이스(IProcessMonitor 등)로 추상화되어 있어서,
</a:t>
            </a:r>
          </a:p>
          <a:p xmlns:a="http://schemas.openxmlformats.org/drawingml/2006/main">
            <a:r>
              <a:rPr lang="ko-KR" sz="1200"/>
              <a:t>테스트할 때 실제 프로세스나 DB 없이도 가짜 객체(Mock)를 넣어서 테스트할 수 있습니다.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ko-KR" sz="1200"/>
              <a:t>프로그램의 감시 동작을 이해하는 가장 중요한 슬라이드입니다.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[ERWEKA 감시 — 왼쪽 빨간 박스]
</a:t>
            </a:r>
          </a:p>
          <a:p xmlns:a="http://schemas.openxmlformats.org/drawingml/2006/main">
            <a:r>
              <a:rPr lang="ko-KR" sz="1200"/>
              <a:t>ERWEKA는 Java 프로그램이라 자동 재시작을 하지 않습니다.
</a:t>
            </a:r>
          </a:p>
          <a:p xmlns:a="http://schemas.openxmlformats.org/drawingml/2006/main">
            <a:r>
              <a:rPr lang="ko-KR" sz="1200"/>
              <a:t>대신 "프로세스가 실행 중인가?" + "TCP 포트가 응답하는가?" 두 가지를 확인합니다.
</a:t>
            </a:r>
          </a:p>
          <a:p xmlns:a="http://schemas.openxmlformats.org/drawingml/2006/main">
            <a:r>
              <a:rPr lang="ko-KR" sz="1200"/>
              <a:t>둘 중 하나라도 실패하면 바로 Failed 상태가 되고, DB에 알람을 1회 기록합니다.
</a:t>
            </a:r>
          </a:p>
          <a:p xmlns:a="http://schemas.openxmlformats.org/drawingml/2006/main">
            <a:r>
              <a:rPr lang="ko-KR" sz="1200"/>
              <a:t>나중에 프로세스가 복구되면 알람 플래그가 리셋되어, 다시 장애가 나면 새 알람이 기록됩니다.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[TabmachineIF 감시 — 오른쪽 파란 박스]
</a:t>
            </a:r>
          </a:p>
          <a:p xmlns:a="http://schemas.openxmlformats.org/drawingml/2006/main">
            <a:r>
              <a:rPr lang="ko-KR" sz="1200"/>
              <a:t>TabmachineIF는 자동 재시작을 시도합니다. 동작 순서는:
</a:t>
            </a:r>
          </a:p>
          <a:p xmlns:a="http://schemas.openxmlformats.org/drawingml/2006/main">
            <a:r>
              <a:rPr lang="ko-KR" sz="1200"/>
              <a:t>1) 프로세스가 없으면 재시작 시도 (기본 최대 3회)
</a:t>
            </a:r>
          </a:p>
          <a:p xmlns:a="http://schemas.openxmlformats.org/drawingml/2006/main">
            <a:r>
              <a:rPr lang="ko-KR" sz="1200"/>
              <a:t>2) 시도 사이에 쿨다운(기본 60초) 대기
</a:t>
            </a:r>
          </a:p>
          <a:p xmlns:a="http://schemas.openxmlformats.org/drawingml/2006/main">
            <a:r>
              <a:rPr lang="ko-KR" sz="1200"/>
              <a:t>3) 3회 모두 실패하면 Failed 상태 → DB 알람 기록
</a:t>
            </a:r>
          </a:p>
          <a:p xmlns:a="http://schemas.openxmlformats.org/drawingml/2006/main">
            <a:r>
              <a:rPr lang="ko-KR" sz="1200"/>
              <a:t>4) 프로세스가 살아나면 카운터 리셋 → 다시 정상 감시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[HealthStatus 상태값]
</a:t>
            </a:r>
          </a:p>
          <a:p xmlns:a="http://schemas.openxmlformats.org/drawingml/2006/main">
            <a:r>
              <a:rPr lang="ko-KR" sz="1200"/>
              <a:t>코드에서 HealthStatus라는 enum으로 관리됩니다.
</a:t>
            </a:r>
          </a:p>
          <a:p xmlns:a="http://schemas.openxmlformats.org/drawingml/2006/main">
            <a:r>
              <a:rPr lang="ko-KR" sz="1200"/>
              <a:t>UI에서 트레이 아이콘 색상, 대시보드 상태 카드 색상이 이 값에 따라 바뀝니다.
</a:t>
            </a:r>
          </a:p>
          <a:p xmlns:a="http://schemas.openxmlformats.org/drawingml/2006/main">
            <a:r>
              <a:rPr lang="ko-KR" sz="1200"/>
              <a:t>가장 나쁜 상태가 트레이 아이콘 색상을 결정합니다 (예: 하나라도 Failed면 빨간색).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[알람 중복 방지]
</a:t>
            </a:r>
          </a:p>
          <a:p xmlns:a="http://schemas.openxmlformats.org/drawingml/2006/main">
            <a:r>
              <a:rPr lang="ko-KR" sz="1200"/>
              <a:t>_erwekaAlarmSent, _tabAlarmSent라는 volatile 플래그로 같은 장애에 대해 알람이 반복 기록되지 않도록 합니다.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ko-KR" sz="1200"/>
              <a:t>코드를 수정한 뒤 현장에 배포하는 과정입니다.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[개발 환경 준비]
</a:t>
            </a:r>
          </a:p>
          <a:p xmlns:a="http://schemas.openxmlformats.org/drawingml/2006/main">
            <a:r>
              <a:rPr lang="ko-KR" sz="1200"/>
              <a:t>.NET 8.0 SDK가 설치되어 있어야 합니다.
</a:t>
            </a:r>
          </a:p>
          <a:p xmlns:a="http://schemas.openxmlformats.org/drawingml/2006/main">
            <a:r>
              <a:rPr lang="ko-KR" sz="1200"/>
              <a:t>인스톨러를 만들려면 Inno Setup 6도 필요합니다 (무료 프로그램).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[빌드 방법 — 3가지]
</a:t>
            </a:r>
          </a:p>
          <a:p xmlns:a="http://schemas.openxmlformats.org/drawingml/2006/main">
            <a:r>
              <a:rPr lang="ko-KR" sz="1200"/>
              <a:t>1) dotnet publish: 소스 코드를 실행 파일(exe)로 변환합니다.
</a:t>
            </a:r>
          </a:p>
          <a:p xmlns:a="http://schemas.openxmlformats.org/drawingml/2006/main">
            <a:r>
              <a:rPr lang="ko-KR" sz="1200"/>
              <a:t>   --self-contained 옵션 덕분에 현장 PC에 .NET을 따로 설치할 필요가 없습니다.
</a:t>
            </a:r>
          </a:p>
          <a:p xmlns:a="http://schemas.openxmlformats.org/drawingml/2006/main">
            <a:r>
              <a:rPr lang="ko-KR" sz="1200"/>
              <a:t>   대신 exe 크기가 약 75MB로 큽니다.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2) build_installer.ps1: dotnet publish + Inno Setup 컴파일을 한 번에 합니다.
</a:t>
            </a:r>
          </a:p>
          <a:p xmlns:a="http://schemas.openxmlformats.org/drawingml/2006/main">
            <a:r>
              <a:rPr lang="ko-KR" sz="1200"/>
              <a:t>   결과물은 Installer/Output/ 폴더에 Setup exe 파일로 나옵니다.
</a:t>
            </a:r>
          </a:p>
          <a:p xmlns:a="http://schemas.openxmlformats.org/drawingml/2006/main">
            <a:r>
              <a:rPr lang="ko-KR" sz="1200"/>
              <a:t>   신규 설치 시 이 인스톨러를 사용합니다.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3) build_patch.ps1: 이미 설치된 곳에 exe만 교체할 때 사용합니다.
</a:t>
            </a:r>
          </a:p>
          <a:p xmlns:a="http://schemas.openxmlformats.org/drawingml/2006/main">
            <a:r>
              <a:rPr lang="ko-KR" sz="1200"/>
              <a:t>   Installer/Patch/ 폴더에 exe + 적용 스크립트가 생성됩니다.
</a:t>
            </a:r>
          </a:p>
          <a:p xmlns:a="http://schemas.openxmlformats.org/drawingml/2006/main">
            <a:r>
              <a:rPr lang="ko-KR" sz="1200"/>
              <a:t>   현장에서 apply_patch.ps1을 관리자 권한으로 실행하면
</a:t>
            </a:r>
          </a:p>
          <a:p xmlns:a="http://schemas.openxmlformats.org/drawingml/2006/main">
            <a:r>
              <a:rPr lang="ko-KR" sz="1200"/>
              <a:t>   서비스 중지 → exe 교체 → 서비스 재시작이 자동으로 됩니다.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[주의사항]
</a:t>
            </a:r>
          </a:p>
          <a:p xmlns:a="http://schemas.openxmlformats.org/drawingml/2006/main">
            <a:r>
              <a:rPr lang="ko-KR" sz="1200"/>
              <a:t>패치 시 설정 파일(config.json)과 로그는 건드리지 않으므로 안전합니다.
</a:t>
            </a:r>
          </a:p>
          <a:p xmlns:a="http://schemas.openxmlformats.org/drawingml/2006/main">
            <a:r>
              <a:rPr lang="ko-KR" sz="1200"/>
              <a:t>테스트는 dotnet test 명령으로 실행합니다. 배포 전에 반드시 확인하세요.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ko-KR" sz="1200"/>
              <a:t>[주요 경로]
</a:t>
            </a:r>
          </a:p>
          <a:p xmlns:a="http://schemas.openxmlformats.org/drawingml/2006/main">
            <a:r>
              <a:rPr lang="ko-KR" sz="1200"/>
              <a:t>설정 파일: C:\ProgramData\InterfaceWatchDog\ 아래의 config.json, dbconfig.json
</a:t>
            </a:r>
          </a:p>
          <a:p xmlns:a="http://schemas.openxmlformats.org/drawingml/2006/main">
            <a:r>
              <a:rPr lang="ko-KR" sz="1200"/>
              <a:t>로그 파일: 같은 경로의 Logs 폴더에 날짜별로 생성됩니다 (watchdog_2026-06-22.log 형식)
</a:t>
            </a:r>
          </a:p>
          <a:p xmlns:a="http://schemas.openxmlformats.org/drawingml/2006/main">
            <a:r>
              <a:rPr lang="ko-KR" sz="1200"/>
              <a:t>설치 경로: C:\Program Files\InterfaceWatchDog\ (exe 파일 위치)
</a:t>
            </a:r>
          </a:p>
          <a:p xmlns:a="http://schemas.openxmlformats.org/drawingml/2006/main">
            <a:r>
              <a:rPr lang="ko-KR" sz="1200"/>
              <a:t>로그는 자동 정리 기능이 없으므로, 디스크 용량이 부족하면 오래된 로그를 수동으로 삭제해야 합니다.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[새 감시 대상을 추가하려면?]
</a:t>
            </a:r>
          </a:p>
          <a:p xmlns:a="http://schemas.openxmlformats.org/drawingml/2006/main">
            <a:r>
              <a:rPr lang="ko-KR" sz="1200"/>
              <a:t>현재는 ERWEKA와 TabmachineIF 두 가지가 고정으로 들어가 있습니다.
</a:t>
            </a:r>
          </a:p>
          <a:p xmlns:a="http://schemas.openxmlformats.org/drawingml/2006/main">
            <a:r>
              <a:rPr lang="ko-KR" sz="1200"/>
              <a:t>새 프로그램을 감시하고 싶다면 다음 5개 파일을 수정해야 합니다:
</a:t>
            </a:r>
          </a:p>
          <a:p xmlns:a="http://schemas.openxmlformats.org/drawingml/2006/main">
            <a:r>
              <a:rPr lang="ko-KR" sz="1200"/>
              <a:t>1) AppConfig.cs — 새 설정 클래스 (이름, 경로, 체크 주기 등)
</a:t>
            </a:r>
          </a:p>
          <a:p xmlns:a="http://schemas.openxmlformats.org/drawingml/2006/main">
            <a:r>
              <a:rPr lang="ko-KR" sz="1200"/>
              <a:t>2) WatchDogEngine.cs — 새 타이머 + Check 메서드 (감시 로직)
</a:t>
            </a:r>
          </a:p>
          <a:p xmlns:a="http://schemas.openxmlformats.org/drawingml/2006/main">
            <a:r>
              <a:rPr lang="ko-KR" sz="1200"/>
              <a:t>3) MainStatusForm.cs — 대시보드에 상태 카드 추가
</a:t>
            </a:r>
          </a:p>
          <a:p xmlns:a="http://schemas.openxmlformats.org/drawingml/2006/main">
            <a:r>
              <a:rPr lang="ko-KR" sz="1200"/>
              <a:t>4) SettingsForm.cs — 설정 화면에 탭 추가
</a:t>
            </a:r>
          </a:p>
          <a:p xmlns:a="http://schemas.openxmlformats.org/drawingml/2006/main">
            <a:r>
              <a:rPr lang="ko-KR" sz="1200"/>
              <a:t>5) config.json — 새 섹션 추가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기존 TabmachineIF 구현을 복사해서 수정하는 것이 가장 빠릅니다.
</a:t>
            </a:r>
          </a:p>
          <a:p xmlns:a="http://schemas.openxmlformats.org/drawingml/2006/main">
            <a:r>
              <a:rPr lang="ko-KR" sz="1200"/>
              <a:t>
</a:t>
            </a:r>
          </a:p>
          <a:p xmlns:a="http://schemas.openxmlformats.org/drawingml/2006/main">
            <a:r>
              <a:rPr lang="ko-KR" sz="1200"/>
              <a:t>[더 자세한 내용]
</a:t>
            </a:r>
          </a:p>
          <a:p xmlns:a="http://schemas.openxmlformats.org/drawingml/2006/main">
            <a:r>
              <a:rPr lang="ko-KR" sz="1200"/>
              <a:t>Docs/HANDOVER.md 파일에 코드 수준의 상세 인수인계 문서가 있습니다.
</a:t>
            </a:r>
          </a:p>
          <a:p xmlns:a="http://schemas.openxmlformats.org/drawingml/2006/main">
            <a:r>
              <a:rPr lang="ko-KR" sz="1200"/>
              <a:t>이 PPT는 요약본이고, 실제 작업 시에는 HANDOVER.md를 참고하세요.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0a3905f6c04058" /></Relationships>
</file>

<file path=ppt/slideLayouts/slideLayout1.xml><?xml version="1.0" encoding="utf-8"?>
<p:sldLayout xmlns:p="http://schemas.openxmlformats.org/presentationml/2006/main" type="blank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slideMasters/theme/theme1.xml" Id="rId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Masters/theme/theme1.xml><?xml version="1.0" encoding="utf-8"?>
<a:theme xmlns:a="http://schemas.openxmlformats.org/drawingml/2006/main" name="InterfaceWatchDog">
  <a:themeElements>
    <a:clrScheme name="InterfaceWatchDog">
      <a:dk1>
        <a:sysClr val="windowText" lastClr="000000"/>
      </a:dk1>
      <a:lt1>
        <a:sysClr val="window" lastClr="FFFFFF"/>
      </a:lt1>
      <a:dk2>
        <a:srgbClr val="1C2028"/>
      </a:dk2>
      <a:lt2>
        <a:srgbClr val="F5F6FA"/>
      </a:lt2>
      <a:accent1>
        <a:srgbClr val="2563EB"/>
      </a:accent1>
      <a:accent2>
        <a:srgbClr val="16A34A"/>
      </a:accent2>
      <a:accent3>
        <a:srgbClr val="DC2626"/>
      </a:accent3>
      <a:accent4>
        <a:srgbClr val="8B5CF6"/>
      </a:accent4>
      <a:accent5>
        <a:srgbClr val="F59E0B"/>
      </a:accent5>
      <a:accent6>
        <a:srgbClr val="06B6D4"/>
      </a:accent6>
      <a:hlink>
        <a:srgbClr val="2563EB"/>
      </a:hlink>
      <a:folHlink>
        <a:srgbClr val="8B5CF6"/>
      </a:folHlink>
    </a:clrScheme>
    <a:fontScheme name="InterfaceWatchDog">
      <a:majorFont>
        <a:latin typeface="맑은 고딕"/>
        <a:ea typeface="맑은 고딕"/>
        <a:cs typeface="맑은 고딕"/>
      </a:majorFont>
      <a:minorFont>
        <a:latin typeface="맑은 고딕"/>
        <a:ea typeface="맑은 고딕"/>
        <a:cs typeface="맑은 고딕"/>
      </a:minorFont>
    </a:fontScheme>
    <a:fmtScheme name="InterfaceWatchDo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.xml" Id="Ra141d956721148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2.xml" Id="R41622ba2f63546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3.xml" Id="R86bde0c4fef141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4.xml" Id="Rea386f0a6b944e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5.xml" Id="R83ed36667b5a40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6.xml" Id="Recec712a258a4f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7.xml" Id="Rb5aa80e28de04b2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C20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"/>
          <p:cNvSpPr/>
          <p:nvPr/>
        </p:nvSpPr>
        <p:spPr>
          <a:xfrm xmlns:a="http://schemas.openxmlformats.org/drawingml/2006/main">
            <a:off x="1440000" y="1800000"/>
            <a:ext cx="2160000" cy="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2160000"/>
            <a:ext cx="936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4000" b="1">
                <a:solidFill>
                  <a:srgbClr val="FFFFFF"/>
                </a:solidFill>
                <a:latin typeface="맑은 고딕"/>
                <a:ea typeface="맑은 고딕"/>
              </a:rPr>
              <a:t>InterfaceWatchDog</a:t>
            </a:r>
          </a:p>
        </p:txBody>
      </p:sp>
      <p:sp>
        <p:nvSpPr>
          <p:cNvPr id="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3240000"/>
            <a:ext cx="93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3200" b="0">
                <a:solidFill>
                  <a:srgbClr val="8C94A5"/>
                </a:solidFill>
                <a:latin typeface="맑은 고딕"/>
                <a:ea typeface="맑은 고딕"/>
              </a:rPr>
              <a:t>개발자 인수인계</a:t>
            </a:r>
          </a:p>
        </p:txBody>
      </p:sp>
      <p:sp>
        <p:nvSpPr>
          <p:cNvPr id="5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4320000"/>
            <a:ext cx="93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0">
                <a:solidFill>
                  <a:srgbClr val="6B7280"/>
                </a:solidFill>
                <a:latin typeface="맑은 고딕"/>
                <a:ea typeface="맑은 고딕"/>
              </a:rPr>
              <a:t>ERWEKA / TabmachineIF 인터페이스 감시 시스템  |  v1.4.0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C20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1800000"/>
            <a:ext cx="936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/>
            <a:r>
              <a:rPr lang="ko-KR" sz="3600" b="1">
                <a:solidFill>
                  <a:srgbClr val="FFFFFF"/>
                </a:solidFill>
                <a:latin typeface="맑은 고딕"/>
                <a:ea typeface="맑은 고딕"/>
              </a:rPr>
              <a:t>개발자 인수인계</a:t>
            </a:r>
          </a:p>
        </p:txBody>
      </p:sp>
      <p:sp>
        <p:nvSpPr>
          <p:cNvPr id="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000" y="3240000"/>
            <a:ext cx="93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/>
            <a:r>
              <a:rPr lang="ko-KR" sz="2000" b="0">
                <a:solidFill>
                  <a:srgbClr val="8C94A5"/>
                </a:solidFill>
                <a:latin typeface="맑은 고딕"/>
                <a:ea typeface="맑은 고딕"/>
              </a:rPr>
              <a:t>아키텍처, 코드 구조, 핵심 로직, 빌드/배포, 유지보수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시스템 아키텍처 (Dual-mode)</a:t>
            </a:r>
          </a:p>
        </p:txBody>
      </p:sp>
      <p:sp>
        <p:nvSpPr>
          <p:cNvPr id="10" name="Rect"/>
          <p:cNvSpPr/>
          <p:nvPr/>
        </p:nvSpPr>
        <p:spPr>
          <a:xfrm xmlns:a="http://schemas.openxmlformats.org/drawingml/2006/main">
            <a:off x="720000" y="1080000"/>
            <a:ext cx="5040000" cy="25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5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2563EB"/>
                </a:solidFill>
                <a:latin typeface="맑은 고딕"/>
                <a:ea typeface="맑은 고딕"/>
              </a:rPr>
              <a:t>감시프로그램 (Session 1+)</a:t>
            </a:r>
          </a:p>
        </p:txBody>
      </p:sp>
      <p:sp>
        <p:nvSpPr>
          <p:cNvPr id="12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800000"/>
            <a:ext cx="4320000" cy="18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WatchDogEngine (감시 + 재시작)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TrayApplicationContext (트레이 아이콘)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MainStatusForm (대시보드)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SettingsForm (설정 UI)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사용자 로그인 시 실행</a:t>
            </a:r>
          </a:p>
        </p:txBody>
      </p:sp>
      <p:sp>
        <p:nvSpPr>
          <p:cNvPr id="13" name="Rect"/>
          <p:cNvSpPr/>
          <p:nvPr/>
        </p:nvSpPr>
        <p:spPr>
          <a:xfrm xmlns:a="http://schemas.openxmlformats.org/drawingml/2006/main">
            <a:off x="6480000" y="1080000"/>
            <a:ext cx="5040000" cy="25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D97706"/>
                </a:solidFill>
                <a:latin typeface="맑은 고딕"/>
                <a:ea typeface="맑은 고딕"/>
              </a:rPr>
              <a:t>Windows 서비스 (Session 0)</a:t>
            </a:r>
          </a:p>
        </p:txBody>
      </p:sp>
      <p:sp>
        <p:nvSpPr>
          <p:cNvPr id="15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800000"/>
            <a:ext cx="4320000" cy="18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WatchDogEngine (감시만, 재시작 X)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FileSystemWatcher (설정 핫리로드)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부팅 시 자동 시작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Session 0 제약: UI 불가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재시작은 감시프로그램이 전담</a:t>
            </a:r>
          </a:p>
        </p:txBody>
      </p:sp>
      <p:sp>
        <p:nvSpPr>
          <p:cNvPr id="16" name="Rect"/>
          <p:cNvSpPr/>
          <p:nvPr/>
        </p:nvSpPr>
        <p:spPr>
          <a:xfrm xmlns:a="http://schemas.openxmlformats.org/drawingml/2006/main">
            <a:off x="720000" y="3960000"/>
            <a:ext cx="10800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DF4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4068000"/>
            <a:ext cx="1008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1">
                <a:solidFill>
                  <a:srgbClr val="16A34A"/>
                </a:solidFill>
                <a:latin typeface="맑은 고딕"/>
                <a:ea typeface="맑은 고딕"/>
              </a:rPr>
              <a:t>공유 리소스 (%ProgramData%\InterfaceWatchDog\)</a:t>
            </a:r>
          </a:p>
        </p:txBody>
      </p:sp>
      <p:sp>
        <p:nvSpPr>
          <p:cNvPr id="18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4500000"/>
            <a:ext cx="1008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config.json (감시 설정)     dbconfig.json (DB 연결)     Logs\ (일별 로그)</a:t>
            </a:r>
          </a:p>
        </p:txBody>
      </p:sp>
      <p:sp>
        <p:nvSpPr>
          <p:cNvPr id="1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5400000"/>
            <a:ext cx="1080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DC2626"/>
                </a:solidFill>
                <a:latin typeface="맑은 고딕"/>
                <a:ea typeface="맑은 고딕"/>
              </a:rPr>
              <a:t>핵심: ERWEKA/TabmachineIF 모두 재시작 후 사용자 조작이 필요하므로, Session 0(서비스)에서는 재시작이 무용지물 → 감시프로그램이 재시작 전담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코드 구조</a:t>
            </a:r>
          </a:p>
        </p:txBody>
      </p:sp>
      <p:sp>
        <p:nvSpPr>
          <p:cNvPr id="22" name="Rect"/>
          <p:cNvSpPr/>
          <p:nvPr/>
        </p:nvSpPr>
        <p:spPr>
          <a:xfrm xmlns:a="http://schemas.openxmlformats.org/drawingml/2006/main">
            <a:off x="720000" y="1080000"/>
            <a:ext cx="5040000" cy="50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C2028"/>
                </a:solidFill>
                <a:latin typeface="맑은 고딕"/>
                <a:ea typeface="맑은 고딕"/>
              </a:rPr>
              <a:t>디렉토리 구조</a:t>
            </a:r>
          </a:p>
        </p:txBody>
      </p:sp>
      <p:sp>
        <p:nvSpPr>
          <p:cNvPr id="24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800000"/>
            <a:ext cx="4320000" cy="43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Program.cs — 진입점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Core/WatchDogEngine.cs — 감시 엔진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Core/ConfigManager.cs — 설정 관리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Core/ProcessMatcher.cs — 프로세스 매칭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Core/RestartTracker.cs — 재시작 추적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Core/Actions/ — 실행 액션</a:t>
            </a:r>
          </a:p>
          <a:p xmlns:a="http://schemas.openxmlformats.org/drawingml/2006/main">
            <a:pPr marL="914400" indent="-457200">
              <a:buFont typeface="Arial"/>
              <a:buChar char="–"/>
            </a:pPr>
            <a:r>
              <a:rPr lang="ko-KR" sz="1100">
                <a:solidFill>
                  <a:srgbClr val="374151"/>
                </a:solidFill>
                <a:latin typeface="맑은 고딕"/>
                <a:ea typeface="맑은 고딕"/>
              </a:rPr>
              <a:t>ProcessRestarter, AlarmWriter, LogWriter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Core/Models/ — 데이터 모델</a:t>
            </a:r>
          </a:p>
          <a:p xmlns:a="http://schemas.openxmlformats.org/drawingml/2006/main">
            <a:pPr marL="914400" indent="-457200">
              <a:buFont typeface="Arial"/>
              <a:buChar char="–"/>
            </a:pPr>
            <a:r>
              <a:rPr lang="ko-KR" sz="1100">
                <a:solidFill>
                  <a:srgbClr val="374151"/>
                </a:solidFill>
                <a:latin typeface="맑은 고딕"/>
                <a:ea typeface="맑은 고딕"/>
              </a:rPr>
              <a:t>AppConfig, ProgramStatus, LogEntry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Core/Monitors/ — 감시 모듈</a:t>
            </a:r>
          </a:p>
          <a:p xmlns:a="http://schemas.openxmlformats.org/drawingml/2006/main">
            <a:pPr marL="914400" indent="-457200">
              <a:buFont typeface="Arial"/>
              <a:buChar char="–"/>
            </a:pPr>
            <a:r>
              <a:rPr lang="ko-KR" sz="1100">
                <a:solidFill>
                  <a:srgbClr val="374151"/>
                </a:solidFill>
                <a:latin typeface="맑은 고딕"/>
                <a:ea typeface="맑은 고딕"/>
              </a:rPr>
              <a:t>ProcessMonitor, FileActivityMonitor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UI/ — 사용자 인터페이스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Service/ — Windows 서비스</a:t>
            </a:r>
          </a:p>
        </p:txBody>
      </p:sp>
      <p:sp>
        <p:nvSpPr>
          <p:cNvPr id="25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0000" y="1188000"/>
            <a:ext cx="504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C2028"/>
                </a:solidFill>
                <a:latin typeface="맑은 고딕"/>
                <a:ea typeface="맑은 고딕"/>
              </a:rPr>
              <a:t>핵심 클래스</a:t>
            </a:r>
          </a:p>
        </p:txBody>
      </p:sp>
      <p:graphicFrame>
        <p:nvGraphicFramePr>
          <p:cNvPr id="26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480000" y="1800000"/>
          <a:ext xmlns:a="http://schemas.openxmlformats.org/drawingml/2006/main" cx="5040000" cy="30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520000"/>
                <a:gridCol w="2520000"/>
              </a:tblGrid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클래스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WatchDogEngine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3개 타이머 감시 루프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ProcessMatcher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WMI 명령줄 매칭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RestartTracker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실패 횟수/쿨다운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ProcessRestarter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Kill + Start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AlarmWriter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SYS_ALARM INSERT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LogWriter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일별 로그 파일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ConfigManager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JSON Load/Save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2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0000" y="5040000"/>
            <a:ext cx="504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200" b="1">
                <a:solidFill>
                  <a:srgbClr val="16A34A"/>
                </a:solidFill>
                <a:latin typeface="맑은 고딕"/>
                <a:ea typeface="맑은 고딕"/>
              </a:rPr>
              <a:t>테스트: IProcessMonitor, IProcessRestarter, IAlarmWriter, IFileActivityMonitor 인터페이스로 모킹 가능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핵심 로직 흐름</a:t>
            </a:r>
          </a:p>
        </p:txBody>
      </p:sp>
      <p:sp>
        <p:nvSpPr>
          <p:cNvPr id="30" name="Rect"/>
          <p:cNvSpPr/>
          <p:nvPr/>
        </p:nvSpPr>
        <p:spPr>
          <a:xfrm xmlns:a="http://schemas.openxmlformats.org/drawingml/2006/main">
            <a:off x="720000" y="1080000"/>
            <a:ext cx="504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1">
                <a:solidFill>
                  <a:srgbClr val="DC2626"/>
                </a:solidFill>
                <a:latin typeface="맑은 고딕"/>
                <a:ea typeface="맑은 고딕"/>
              </a:rPr>
              <a:t>ERWEKA 감시 (재시작 없음)</a:t>
            </a:r>
          </a:p>
        </p:txBody>
      </p:sp>
      <p:sp>
        <p:nvSpPr>
          <p:cNvPr id="32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728000"/>
            <a:ext cx="432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프로세스 실행 + 포트 LISTEN → Healthy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프로세스 미감지 또는 포트 실패 → Failed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Failed 전환 시 SYS_ALARM 1회 기록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복구 시 알람 플래그 리셋</a:t>
            </a:r>
          </a:p>
        </p:txBody>
      </p:sp>
      <p:sp>
        <p:nvSpPr>
          <p:cNvPr id="33" name="Rect"/>
          <p:cNvSpPr/>
          <p:nvPr/>
        </p:nvSpPr>
        <p:spPr>
          <a:xfrm xmlns:a="http://schemas.openxmlformats.org/drawingml/2006/main">
            <a:off x="6480000" y="1080000"/>
            <a:ext cx="5040000" cy="21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188000"/>
            <a:ext cx="432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500" b="1">
                <a:solidFill>
                  <a:srgbClr val="2563EB"/>
                </a:solidFill>
                <a:latin typeface="맑은 고딕"/>
                <a:ea typeface="맑은 고딕"/>
              </a:rPr>
              <a:t>TabmachineIF 감시 (자동 재시작)</a:t>
            </a:r>
          </a:p>
        </p:txBody>
      </p:sp>
      <p:sp>
        <p:nvSpPr>
          <p:cNvPr id="35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0000" y="1728000"/>
            <a:ext cx="432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프로세스 실행 중 → Healthy (카운터 리셋)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미감지 + 쿨다운 중 → 스킵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미감지 → 재시작 시도 (최대 N회)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200">
                <a:solidFill>
                  <a:srgbClr val="374151"/>
                </a:solidFill>
                <a:latin typeface="맑은 고딕"/>
                <a:ea typeface="맑은 고딕"/>
              </a:rPr>
              <a:t>최종 실패 → Failed + SYS_ALARM 기록</a:t>
            </a:r>
          </a:p>
        </p:txBody>
      </p:sp>
      <p:sp>
        <p:nvSpPr>
          <p:cNvPr id="3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60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C2028"/>
                </a:solidFill>
                <a:latin typeface="맑은 고딕"/>
                <a:ea typeface="맑은 고딕"/>
              </a:rPr>
              <a:t>HealthStatus 상태 전이</a:t>
            </a:r>
          </a:p>
        </p:txBody>
      </p:sp>
      <p:graphicFrame>
        <p:nvGraphicFramePr>
          <p:cNvPr id="37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20000" y="4140000"/>
          <a:ext xmlns:a="http://schemas.openxmlformats.org/drawingml/2006/main" cx="10800000" cy="228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00000"/>
                <a:gridCol w="2700000"/>
                <a:gridCol w="2700000"/>
                <a:gridCol w="2700000"/>
              </a:tblGrid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색상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전환 조건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Healthy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녹색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정상 실행 중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프로세스 감지됨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Warning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주황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경고/서비스 모드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서비스에서 미감지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Restarting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파랑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재시작 시도 중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재시작 실행 중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Failed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빨강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복구 실패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최대 시도 초과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Disabled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회색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감시 비활성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프로세스 미설정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</p:spTree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빌드 및 배포</a:t>
            </a:r>
          </a:p>
        </p:txBody>
      </p:sp>
      <p:sp>
        <p:nvSpPr>
          <p:cNvPr id="40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0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C2028"/>
                </a:solidFill>
                <a:latin typeface="맑은 고딕"/>
                <a:ea typeface="맑은 고딕"/>
              </a:rPr>
              <a:t>빌드 명령어</a:t>
            </a:r>
          </a:p>
        </p:txBody>
      </p:sp>
      <p:graphicFrame>
        <p:nvGraphicFramePr>
          <p:cNvPr id="41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20000" y="1620000"/>
          <a:ext xmlns:a="http://schemas.openxmlformats.org/drawingml/2006/main" cx="10800000" cy="25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00000"/>
                <a:gridCol w="3600000"/>
                <a:gridCol w="3600000"/>
              </a:tblGrid>
              <a:tr h="5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작업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명령어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출력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5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실행 파일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dotnet publish -c Release
-r win-x64 --self-contained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bin/publish/win-x64/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5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인스톨러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.\build_installer.ps1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Installer/Output/*.exe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패치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.\build_patch.ps1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Installer/Patch/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50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테스트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dotnet test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xUnit 결과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96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C2028"/>
                </a:solidFill>
                <a:latin typeface="맑은 고딕"/>
                <a:ea typeface="맑은 고딕"/>
              </a:rPr>
              <a:t>빌드 환경 요구사항</a:t>
            </a:r>
          </a:p>
        </p:txBody>
      </p:sp>
      <p:sp>
        <p:nvSpPr>
          <p:cNvPr id="43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4500000"/>
            <a:ext cx="1080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.NET 8.0 SDK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Inno Setup 6 (인스톨러 빌드 시) — jrsoftware.org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PowerShell 5.1+</a:t>
            </a:r>
          </a:p>
        </p:txBody>
      </p:sp>
      <p:sp>
        <p:nvSpPr>
          <p:cNvPr id="44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5580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16A34A"/>
                </a:solidFill>
                <a:latin typeface="맑은 고딕"/>
                <a:ea typeface="맑은 고딕"/>
              </a:rPr>
              <a:t>배포: Self-Contained 단일 EXE (~75MB, .NET 런타임 포함) → 대상 PC에 .NET 설치 불필요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"/>
          <p:cNvSpPr/>
          <p:nvPr/>
        </p:nvSpPr>
        <p:spPr>
          <a:xfrm xmlns:a="http://schemas.openxmlformats.org/drawingml/2006/main">
            <a:off x="0" y="0"/>
            <a:ext cx="12192000" cy="7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02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40000"/>
            <a:ext cx="10752000" cy="5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l"/>
            <a:r>
              <a:rPr lang="ko-KR" sz="2400" b="1">
                <a:solidFill>
                  <a:srgbClr val="FFFFFF"/>
                </a:solidFill>
                <a:latin typeface="맑은 고딕"/>
                <a:ea typeface="맑은 고딕"/>
              </a:rPr>
              <a:t>유지보수 포인트</a:t>
            </a:r>
          </a:p>
        </p:txBody>
      </p:sp>
      <p:sp>
        <p:nvSpPr>
          <p:cNvPr id="47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10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C2028"/>
                </a:solidFill>
                <a:latin typeface="맑은 고딕"/>
                <a:ea typeface="맑은 고딕"/>
              </a:rPr>
              <a:t>주요 경로</a:t>
            </a:r>
          </a:p>
        </p:txBody>
      </p:sp>
      <p:graphicFrame>
        <p:nvGraphicFramePr>
          <p:cNvPr id="48" name="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20000" y="1620000"/>
          <a:ext xmlns:a="http://schemas.openxmlformats.org/drawingml/2006/main" cx="10800000" cy="222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5400000"/>
                <a:gridCol w="5400000"/>
              </a:tblGrid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경로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1C2028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설치 경로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C:\Program Files\InterfaceWatchDog\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감시 설정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%ProgramData%\InterfaceWatchDog\config.json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DB 설정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%ProgramData%\InterfaceWatchDog\dbconfig.json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로그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%ProgramData%\InterfaceWatchDog\Logs\watchdog_*.log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00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레지스트리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2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HKLM\SOFTWARE\InterfaceWatchDog</a:t>
                      </a:r>
                    </a:p>
                  </a:txBody>
                  <a:tcPr marL="91440" marR="91440" marT="45720" marB="45720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E0E0E0"/>
                      </a:solidFill>
                      <a:prstDash val="soli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49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96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600" b="1">
                <a:solidFill>
                  <a:srgbClr val="1C2028"/>
                </a:solidFill>
                <a:latin typeface="맑은 고딕"/>
                <a:ea typeface="맑은 고딕"/>
              </a:rPr>
              <a:t>감시 대상 추가 시 수정 포인트</a:t>
            </a:r>
          </a:p>
        </p:txBody>
      </p:sp>
      <p:sp>
        <p:nvSpPr>
          <p:cNvPr id="50" name="Bulle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4500000"/>
            <a:ext cx="10800000" cy="18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AppConfig.cs — 새 Config 클래스 추가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WatchDogEngine.cs — 새 타이머 + Check 메서드 추가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MainStatusForm.cs — 상태 카드 UI 추가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SettingsForm.cs — 설정 탭 추가</a:t>
            </a:r>
          </a:p>
          <a:p xmlns:a="http://schemas.openxmlformats.org/drawingml/2006/main">
            <a:pPr marL="457200" indent="-457200">
              <a:buFont typeface="Arial"/>
              <a:buChar char="•"/>
            </a:pPr>
            <a:r>
              <a:rPr lang="ko-KR" sz="1300">
                <a:solidFill>
                  <a:srgbClr val="374151"/>
                </a:solidFill>
                <a:latin typeface="맑은 고딕"/>
                <a:ea typeface="맑은 고딕"/>
              </a:rPr>
              <a:t>config.json — 새 섹션 추가</a:t>
            </a:r>
          </a:p>
        </p:txBody>
      </p:sp>
      <p:sp>
        <p:nvSpPr>
          <p:cNvPr id="51" name="TextBox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612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/>
            <a:r>
              <a:rPr lang="ko-KR" sz="1400" b="1">
                <a:solidFill>
                  <a:srgbClr val="2563EB"/>
                </a:solidFill>
                <a:latin typeface="맑은 고딕"/>
                <a:ea typeface="맑은 고딕"/>
              </a:rPr>
              <a:t>상세 인수인계 문서: Docs/HANDOVER.md 참조</a:t>
            </a:r>
          </a:p>
        </p:txBody>
      </p:sp>
    </p:spTree>
  </p:cSld>
</p:sld>
</file>