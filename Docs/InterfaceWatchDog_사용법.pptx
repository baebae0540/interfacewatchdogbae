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8d3fcbd9e2d40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100"/>
    <p:sldId xmlns:r="http://schemas.openxmlformats.org/officeDocument/2006/relationships" id="257" r:id="rId101"/>
    <p:sldId xmlns:r="http://schemas.openxmlformats.org/officeDocument/2006/relationships" id="258" r:id="rId102"/>
    <p:sldId xmlns:r="http://schemas.openxmlformats.org/officeDocument/2006/relationships" id="259" r:id="rId103"/>
    <p:sldId xmlns:r="http://schemas.openxmlformats.org/officeDocument/2006/relationships" id="260" r:id="rId104"/>
    <p:sldId xmlns:r="http://schemas.openxmlformats.org/officeDocument/2006/relationships" id="261" r:id="rId105"/>
    <p:sldId xmlns:r="http://schemas.openxmlformats.org/officeDocument/2006/relationships" id="262" r:id="rId106"/>
    <p:sldId xmlns:r="http://schemas.openxmlformats.org/officeDocument/2006/relationships" id="263" r:id="rId107"/>
    <p:sldId xmlns:r="http://schemas.openxmlformats.org/officeDocument/2006/relationships" id="264" r:id="rId108"/>
    <p:sldId xmlns:r="http://schemas.openxmlformats.org/officeDocument/2006/relationships" id="265" r:id="rId109"/>
    <p:sldId xmlns:r="http://schemas.openxmlformats.org/officeDocument/2006/relationships" id="266" r:id="rId110"/>
    <p:sldId xmlns:r="http://schemas.openxmlformats.org/officeDocument/2006/relationships" id="267" r:id="rId111"/>
    <p:sldId xmlns:r="http://schemas.openxmlformats.org/officeDocument/2006/relationships" id="268" r:id="rId112"/>
    <p:sldId xmlns:r="http://schemas.openxmlformats.org/officeDocument/2006/relationships" id="269" r:id="rId113"/>
    <p:sldId xmlns:r="http://schemas.openxmlformats.org/officeDocument/2006/relationships" id="270" r:id="rId114"/>
    <p:sldId xmlns:r="http://schemas.openxmlformats.org/officeDocument/2006/relationships" id="271" r:id="rId115"/>
    <p:sldId xmlns:r="http://schemas.openxmlformats.org/officeDocument/2006/relationships" id="272" r:id="rId116"/>
    <p:sldId xmlns:r="http://schemas.openxmlformats.org/officeDocument/2006/relationships" id="273" r:id="rId117"/>
    <p:sldId xmlns:r="http://schemas.openxmlformats.org/officeDocument/2006/relationships" id="274" r:id="rId118"/>
  </p:sldIdLst>
  <p:sldSz cx="12192000" cy="6858000" type="custom"/>
  <p:notesSz cx="6858000" cy="12192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slideMasters/theme/theme1.xml" Id="rId2" /><Relationship Type="http://schemas.openxmlformats.org/officeDocument/2006/relationships/slide" Target="/ppt/slides/slide1.xml" Id="rId100" /><Relationship Type="http://schemas.openxmlformats.org/officeDocument/2006/relationships/slide" Target="/ppt/slides/slide2.xml" Id="rId101" /><Relationship Type="http://schemas.openxmlformats.org/officeDocument/2006/relationships/slide" Target="/ppt/slides/slide3.xml" Id="rId102" /><Relationship Type="http://schemas.openxmlformats.org/officeDocument/2006/relationships/slide" Target="/ppt/slides/slide4.xml" Id="rId103" /><Relationship Type="http://schemas.openxmlformats.org/officeDocument/2006/relationships/slide" Target="/ppt/slides/slide5.xml" Id="rId104" /><Relationship Type="http://schemas.openxmlformats.org/officeDocument/2006/relationships/slide" Target="/ppt/slides/slide6.xml" Id="rId105" /><Relationship Type="http://schemas.openxmlformats.org/officeDocument/2006/relationships/slide" Target="/ppt/slides/slide7.xml" Id="rId106" /><Relationship Type="http://schemas.openxmlformats.org/officeDocument/2006/relationships/slide" Target="/ppt/slides/slide8.xml" Id="rId107" /><Relationship Type="http://schemas.openxmlformats.org/officeDocument/2006/relationships/slide" Target="/ppt/slides/slide9.xml" Id="rId108" /><Relationship Type="http://schemas.openxmlformats.org/officeDocument/2006/relationships/slide" Target="/ppt/slides/slide10.xml" Id="rId109" /><Relationship Type="http://schemas.openxmlformats.org/officeDocument/2006/relationships/slide" Target="/ppt/slides/slide11.xml" Id="rId110" /><Relationship Type="http://schemas.openxmlformats.org/officeDocument/2006/relationships/slide" Target="/ppt/slides/slide12.xml" Id="rId111" /><Relationship Type="http://schemas.openxmlformats.org/officeDocument/2006/relationships/slide" Target="/ppt/slides/slide13.xml" Id="rId112" /><Relationship Type="http://schemas.openxmlformats.org/officeDocument/2006/relationships/slide" Target="/ppt/slides/slide14.xml" Id="rId113" /><Relationship Type="http://schemas.openxmlformats.org/officeDocument/2006/relationships/slide" Target="/ppt/slides/slide15.xml" Id="rId114" /><Relationship Type="http://schemas.openxmlformats.org/officeDocument/2006/relationships/slide" Target="/ppt/slides/slide16.xml" Id="rId115" /><Relationship Type="http://schemas.openxmlformats.org/officeDocument/2006/relationships/slide" Target="/ppt/slides/slide17.xml" Id="rId116" /><Relationship Type="http://schemas.openxmlformats.org/officeDocument/2006/relationships/slide" Target="/ppt/slides/slide18.xml" Id="rId117" /><Relationship Type="http://schemas.openxmlformats.org/officeDocument/2006/relationships/slide" Target="/ppt/slides/slide19.xml" Id="rId11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6872e89034fe6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InterfaceWatchDog">
  <a:themeElements>
    <a:clrScheme name="InterfaceWatchDog">
      <a:dk1>
        <a:sysClr val="windowText" lastClr="000000"/>
      </a:dk1>
      <a:lt1>
        <a:sysClr val="window" lastClr="FFFFFF"/>
      </a:lt1>
      <a:dk2>
        <a:srgbClr val="1C2028"/>
      </a:dk2>
      <a:lt2>
        <a:srgbClr val="F5F6FA"/>
      </a:lt2>
      <a:accent1>
        <a:srgbClr val="2563EB"/>
      </a:accent1>
      <a:accent2>
        <a:srgbClr val="16A34A"/>
      </a:accent2>
      <a:accent3>
        <a:srgbClr val="DC2626"/>
      </a:accent3>
      <a:accent4>
        <a:srgbClr val="8B5CF6"/>
      </a:accent4>
      <a:accent5>
        <a:srgbClr val="F59E0B"/>
      </a:accent5>
      <a:accent6>
        <a:srgbClr val="06B6D4"/>
      </a:accent6>
      <a:hlink>
        <a:srgbClr val="2563EB"/>
      </a:hlink>
      <a:folHlink>
        <a:srgbClr val="8B5CF6"/>
      </a:folHlink>
    </a:clrScheme>
    <a:fontScheme name="InterfaceWatchDog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InterfaceWatchDo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0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"/>
          <p:cNvSpPr/>
          <p:nvPr/>
        </p:nvSpPr>
        <p:spPr>
          <a:xfrm xmlns:a="http://schemas.openxmlformats.org/drawingml/2006/main">
            <a:off x="1440000" y="1800000"/>
            <a:ext cx="216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2160000"/>
            <a:ext cx="93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4000" b="1">
                <a:solidFill>
                  <a:srgbClr val="FFFFFF"/>
                </a:solidFill>
                <a:latin typeface="맑은 고딕"/>
                <a:ea typeface="맑은 고딕"/>
              </a:rPr>
              <a:t>InterfaceWatchDog</a:t>
            </a:r>
          </a:p>
        </p:txBody>
      </p:sp>
      <p:sp>
        <p:nvSpPr>
          <p:cNvPr id="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324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3200" b="0">
                <a:solidFill>
                  <a:srgbClr val="8C94A5"/>
                </a:solidFill>
                <a:latin typeface="맑은 고딕"/>
                <a:ea typeface="맑은 고딕"/>
              </a:rPr>
              <a:t>기본 사용법</a:t>
            </a:r>
          </a:p>
        </p:txBody>
      </p:sp>
      <p:sp>
        <p:nvSpPr>
          <p:cNvPr id="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432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0">
                <a:solidFill>
                  <a:srgbClr val="6B7280"/>
                </a:solidFill>
                <a:latin typeface="맑은 고딕"/>
                <a:ea typeface="맑은 고딕"/>
              </a:rPr>
              <a:t>ERWEKA / TabmachineIF 인터페이스 감시 시스템  |  v1.3.0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8" name="Rect"/>
          <p:cNvSpPr/>
          <p:nvPr/>
        </p:nvSpPr>
        <p:spPr>
          <a:xfrm xmlns:a="http://schemas.openxmlformats.org/drawingml/2006/main">
            <a:off x="720000" y="1080000"/>
            <a:ext cx="5040000" cy="50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260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2000" b="1">
                <a:solidFill>
                  <a:srgbClr val="2563EB"/>
                </a:solidFill>
                <a:latin typeface="맑은 고딕"/>
                <a:ea typeface="맑은 고딕"/>
              </a:rPr>
              <a:t>현장 운영자</a:t>
            </a:r>
          </a:p>
        </p:txBody>
      </p:sp>
      <p:sp>
        <p:nvSpPr>
          <p:cNvPr id="10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980000"/>
            <a:ext cx="432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1E40AF"/>
                </a:solidFill>
                <a:latin typeface="맑은 고딕"/>
                <a:ea typeface="맑은 고딕"/>
              </a:rPr>
              <a:t>프로그램 설치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1E40AF"/>
                </a:solidFill>
                <a:latin typeface="맑은 고딕"/>
                <a:ea typeface="맑은 고딕"/>
              </a:rPr>
              <a:t>초기 설정 (ERWEKA / TabmachineIF)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1E40AF"/>
                </a:solidFill>
                <a:latin typeface="맑은 고딕"/>
                <a:ea typeface="맑은 고딕"/>
              </a:rPr>
              <a:t>상태 대시보드 사용법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1E40AF"/>
                </a:solidFill>
                <a:latin typeface="맑은 고딕"/>
                <a:ea typeface="맑은 고딕"/>
              </a:rPr>
              <a:t>트레이 아이콘 &amp; 알림 이해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1E40AF"/>
                </a:solidFill>
                <a:latin typeface="맑은 고딕"/>
                <a:ea typeface="맑은 고딕"/>
              </a:rPr>
              <a:t>현장 문제 대응 가이드</a:t>
            </a:r>
          </a:p>
        </p:txBody>
      </p:sp>
      <p:sp>
        <p:nvSpPr>
          <p:cNvPr id="11" name="Rect"/>
          <p:cNvSpPr/>
          <p:nvPr/>
        </p:nvSpPr>
        <p:spPr>
          <a:xfrm xmlns:a="http://schemas.openxmlformats.org/drawingml/2006/main">
            <a:off x="6480000" y="1080000"/>
            <a:ext cx="5040000" cy="50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9E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260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2000" b="1">
                <a:solidFill>
                  <a:srgbClr val="1C2028"/>
                </a:solidFill>
                <a:latin typeface="맑은 고딕"/>
                <a:ea typeface="맑은 고딕"/>
              </a:rPr>
              <a:t>IT 관리자</a:t>
            </a:r>
          </a:p>
        </p:txBody>
      </p:sp>
      <p:sp>
        <p:nvSpPr>
          <p:cNvPr id="13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980000"/>
            <a:ext cx="432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374151"/>
                </a:solidFill>
                <a:latin typeface="맑은 고딕"/>
                <a:ea typeface="맑은 고딕"/>
              </a:rPr>
              <a:t>Windows 서비스 관리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374151"/>
                </a:solidFill>
                <a:latin typeface="맑은 고딕"/>
                <a:ea typeface="맑은 고딕"/>
              </a:rPr>
              <a:t>DB 알람 설정 (SYS_ALARM)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374151"/>
                </a:solidFill>
                <a:latin typeface="맑은 고딕"/>
                <a:ea typeface="맑은 고딕"/>
              </a:rPr>
              <a:t>로그 관리 및 조회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374151"/>
                </a:solidFill>
                <a:latin typeface="맑은 고딕"/>
                <a:ea typeface="맑은 고딕"/>
              </a:rPr>
              <a:t>패치 배포 방법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374151"/>
                </a:solidFill>
                <a:latin typeface="맑은 고딕"/>
                <a:ea typeface="맑은 고딕"/>
              </a:rPr>
              <a:t>설정 파일 구조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600">
                <a:solidFill>
                  <a:srgbClr val="374151"/>
                </a:solidFill>
                <a:latin typeface="맑은 고딕"/>
                <a:ea typeface="맑은 고딕"/>
              </a:rPr>
              <a:t>고급 문제 해결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프로그램 소개</a:t>
            </a:r>
          </a:p>
        </p:txBody>
      </p:sp>
      <p:sp>
        <p:nvSpPr>
          <p:cNvPr id="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0">
                <a:solidFill>
                  <a:srgbClr val="555555"/>
                </a:solidFill>
                <a:latin typeface="맑은 고딕"/>
                <a:ea typeface="맑은 고딕"/>
              </a:rPr>
              <a:t>ERWEKA Export Manager와 TabmachineIF 프로세스를 실시간으로 감시하고,
장애 발생 시 자동 재시작 및 알람을 제공하는 Windows 모니터링 프로그램</a:t>
            </a:r>
          </a:p>
        </p:txBody>
      </p:sp>
      <p:sp>
        <p:nvSpPr>
          <p:cNvPr id="17" name="Rect"/>
          <p:cNvSpPr/>
          <p:nvPr/>
        </p:nvSpPr>
        <p:spPr>
          <a:xfrm xmlns:a="http://schemas.openxmlformats.org/drawingml/2006/main">
            <a:off x="720000" y="2160000"/>
            <a:ext cx="3420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448000"/>
            <a:ext cx="34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2563EB"/>
                </a:solidFill>
                <a:latin typeface="맑은 고딕"/>
                <a:ea typeface="맑은 고딕"/>
              </a:rPr>
              <a:t>프로세스 감시</a:t>
            </a:r>
          </a:p>
        </p:txBody>
      </p:sp>
      <p:sp>
        <p:nvSpPr>
          <p:cNvPr id="1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060000"/>
            <a:ext cx="342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555555"/>
                </a:solidFill>
                <a:latin typeface="맑은 고딕"/>
                <a:ea typeface="맑은 고딕"/>
              </a:rPr>
              <a:t>ERWEKA: 프로세스 + TCP 포트
TabmachineIF: 프로세스 상태
설정 가능한 감시 주기</a:t>
            </a:r>
          </a:p>
        </p:txBody>
      </p:sp>
      <p:sp>
        <p:nvSpPr>
          <p:cNvPr id="20" name="Rect"/>
          <p:cNvSpPr/>
          <p:nvPr/>
        </p:nvSpPr>
        <p:spPr>
          <a:xfrm xmlns:a="http://schemas.openxmlformats.org/drawingml/2006/main">
            <a:off x="4500000" y="2160000"/>
            <a:ext cx="3420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2448000"/>
            <a:ext cx="34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16A34A"/>
                </a:solidFill>
                <a:latin typeface="맑은 고딕"/>
                <a:ea typeface="맑은 고딕"/>
              </a:rPr>
              <a:t>자동 재시작</a:t>
            </a:r>
          </a:p>
        </p:txBody>
      </p:sp>
      <p:sp>
        <p:nvSpPr>
          <p:cNvPr id="2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0" y="3060000"/>
            <a:ext cx="342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555555"/>
                </a:solidFill>
                <a:latin typeface="맑은 고딕"/>
                <a:ea typeface="맑은 고딕"/>
              </a:rPr>
              <a:t>TabmachineIF 종료 감지 시 자동 재시작
최대 재시작 횟수 제한
쿨다운 대기 후 재시도</a:t>
            </a:r>
          </a:p>
        </p:txBody>
      </p:sp>
      <p:sp>
        <p:nvSpPr>
          <p:cNvPr id="23" name="Rect"/>
          <p:cNvSpPr/>
          <p:nvPr/>
        </p:nvSpPr>
        <p:spPr>
          <a:xfrm xmlns:a="http://schemas.openxmlformats.org/drawingml/2006/main">
            <a:off x="8280000" y="2160000"/>
            <a:ext cx="3420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0" y="2448000"/>
            <a:ext cx="34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DC2626"/>
                </a:solidFill>
                <a:latin typeface="맑은 고딕"/>
                <a:ea typeface="맑은 고딕"/>
              </a:rPr>
              <a:t>알람 기록</a:t>
            </a:r>
          </a:p>
        </p:txBody>
      </p:sp>
      <p:sp>
        <p:nvSpPr>
          <p:cNvPr id="2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000" y="3060000"/>
            <a:ext cx="342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555555"/>
                </a:solidFill>
                <a:latin typeface="맑은 고딕"/>
                <a:ea typeface="맑은 고딕"/>
              </a:rPr>
              <a:t>SYS_ALARM DB 테이블 자동 기록
ERWEKA 중지, Tab 재시작 실패 시
중복 방지 + 복구 후 재알람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시스템 구성도</a:t>
            </a:r>
          </a:p>
        </p:txBody>
      </p:sp>
      <p:sp>
        <p:nvSpPr>
          <p:cNvPr id="28" name="Rect"/>
          <p:cNvSpPr/>
          <p:nvPr/>
        </p:nvSpPr>
        <p:spPr>
          <a:xfrm xmlns:a="http://schemas.openxmlformats.org/drawingml/2006/main">
            <a:off x="720000" y="1080000"/>
            <a:ext cx="50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188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2563EB"/>
                </a:solidFill>
                <a:latin typeface="맑은 고딕"/>
                <a:ea typeface="맑은 고딕"/>
              </a:rPr>
              <a:t>감시 프로그램 (대화형)</a:t>
            </a:r>
          </a:p>
        </p:txBody>
      </p:sp>
      <p:sp>
        <p:nvSpPr>
          <p:cNvPr id="30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800000"/>
            <a:ext cx="432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1E40AF"/>
                </a:solidFill>
                <a:latin typeface="맑은 고딕"/>
                <a:ea typeface="맑은 고딕"/>
              </a:rPr>
              <a:t>사용자 세션에서 실행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1E40AF"/>
                </a:solidFill>
                <a:latin typeface="맑은 고딕"/>
                <a:ea typeface="맑은 고딕"/>
              </a:rPr>
              <a:t>상태 대시보드 UI 제공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1E40AF"/>
                </a:solidFill>
                <a:latin typeface="맑은 고딕"/>
                <a:ea typeface="맑은 고딕"/>
              </a:rPr>
              <a:t>프로세스 재시작 수행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1E40AF"/>
                </a:solidFill>
                <a:latin typeface="맑은 고딕"/>
                <a:ea typeface="맑은 고딕"/>
              </a:rPr>
              <a:t>트레이 아이콘 알림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1E40AF"/>
                </a:solidFill>
                <a:latin typeface="맑은 고딕"/>
                <a:ea typeface="맑은 고딕"/>
              </a:rPr>
              <a:t>설정 변경 UI</a:t>
            </a:r>
          </a:p>
        </p:txBody>
      </p:sp>
      <p:sp>
        <p:nvSpPr>
          <p:cNvPr id="31" name="Rect"/>
          <p:cNvSpPr/>
          <p:nvPr/>
        </p:nvSpPr>
        <p:spPr>
          <a:xfrm xmlns:a="http://schemas.openxmlformats.org/drawingml/2006/main">
            <a:off x="6480000" y="1080000"/>
            <a:ext cx="50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9E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188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1C2028"/>
                </a:solidFill>
                <a:latin typeface="맑은 고딕"/>
                <a:ea typeface="맑은 고딕"/>
              </a:rPr>
              <a:t>Windows 서비스 (백그라운드)</a:t>
            </a:r>
          </a:p>
        </p:txBody>
      </p:sp>
      <p:sp>
        <p:nvSpPr>
          <p:cNvPr id="33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800000"/>
            <a:ext cx="432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Session 0에서 실행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부팅 시 자동 시작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로그인 없이 감시 가능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설정 변경 자동 반영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재시작 불가 (Session 0 제약)</a:t>
            </a:r>
          </a:p>
        </p:txBody>
      </p:sp>
      <p:sp>
        <p:nvSpPr>
          <p:cNvPr id="3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96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1">
                <a:solidFill>
                  <a:srgbClr val="DC2626"/>
                </a:solidFill>
                <a:latin typeface="맑은 고딕"/>
                <a:ea typeface="맑은 고딕"/>
              </a:rPr>
              <a:t>권장: 두 모드를 함께 사용 — 서비스가 부팅 시 감시, 감시 프로그램이 재시작 및 UI 담당</a:t>
            </a:r>
          </a:p>
        </p:txBody>
      </p:sp>
      <p:graphicFrame>
        <p:nvGraphicFramePr>
          <p:cNvPr id="35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20000" y="4680000"/>
          <a:ext xmlns:a="http://schemas.openxmlformats.org/drawingml/2006/main" cx="10800000" cy="185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감시 프로그램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Windows 서비스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</a:tr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감시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O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O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재시작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O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X (Session 0)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UI / 알림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O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X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부팅 시 자동 실행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X (로그인 필요)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O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56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1800000"/>
            <a:ext cx="93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3600" b="1">
                <a:solidFill>
                  <a:srgbClr val="FFFFFF"/>
                </a:solidFill>
                <a:latin typeface="맑은 고딕"/>
                <a:ea typeface="맑은 고딕"/>
              </a:rPr>
              <a:t>현장 운영자 가이드</a:t>
            </a:r>
          </a:p>
        </p:txBody>
      </p:sp>
      <p:sp>
        <p:nvSpPr>
          <p:cNvPr id="3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324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ko-KR" sz="2000" b="0">
                <a:solidFill>
                  <a:srgbClr val="BDD4FF"/>
                </a:solidFill>
                <a:latin typeface="맑은 고딕"/>
                <a:ea typeface="맑은 고딕"/>
              </a:rPr>
              <a:t>설치부터 일상 모니터링까지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설치하기</a:t>
            </a:r>
          </a:p>
        </p:txBody>
      </p:sp>
      <p:sp>
        <p:nvSpPr>
          <p:cNvPr id="40" name="Rect"/>
          <p:cNvSpPr/>
          <p:nvPr/>
        </p:nvSpPr>
        <p:spPr>
          <a:xfrm xmlns:a="http://schemas.openxmlformats.org/drawingml/2006/main">
            <a:off x="720000" y="1260000"/>
            <a:ext cx="108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260000"/>
            <a:ext cx="1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>
                <a:solidFill>
                  <a:srgbClr val="FFFFFF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4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000" y="1260000"/>
            <a:ext cx="93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333333"/>
                </a:solidFill>
                <a:latin typeface="맑은 고딕"/>
                <a:ea typeface="맑은 고딕"/>
              </a:rPr>
              <a:t>설치 파일 실행</a:t>
            </a:r>
          </a:p>
        </p:txBody>
      </p:sp>
      <p:sp>
        <p:nvSpPr>
          <p:cNvPr id="4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000" y="1908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666666"/>
                </a:solidFill>
                <a:latin typeface="맑은 고딕"/>
                <a:ea typeface="맑은 고딕"/>
              </a:rPr>
              <a:t>InterfaceWatchDog_Setup_vX.X.X.exe 파일을
더블클릭하여 실행합니다.</a:t>
            </a:r>
          </a:p>
        </p:txBody>
      </p:sp>
      <p:sp>
        <p:nvSpPr>
          <p:cNvPr id="44" name="Rect"/>
          <p:cNvSpPr/>
          <p:nvPr/>
        </p:nvSpPr>
        <p:spPr>
          <a:xfrm xmlns:a="http://schemas.openxmlformats.org/drawingml/2006/main">
            <a:off x="720000" y="2880000"/>
            <a:ext cx="108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880000"/>
            <a:ext cx="1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>
                <a:solidFill>
                  <a:srgbClr val="FFFFFF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4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000" y="2880000"/>
            <a:ext cx="93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333333"/>
                </a:solidFill>
                <a:latin typeface="맑은 고딕"/>
                <a:ea typeface="맑은 고딕"/>
              </a:rPr>
              <a:t>설치 유형 선택</a:t>
            </a:r>
          </a:p>
        </p:txBody>
      </p:sp>
      <p:sp>
        <p:nvSpPr>
          <p:cNvPr id="4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000" y="3528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666666"/>
                </a:solidFill>
                <a:latin typeface="맑은 고딕"/>
                <a:ea typeface="맑은 고딕"/>
              </a:rPr>
              <a:t>"전체 설치"를 선택합니다. (권장)
Windows 서비스가 함께 등록됩니다.</a:t>
            </a:r>
          </a:p>
        </p:txBody>
      </p:sp>
      <p:sp>
        <p:nvSpPr>
          <p:cNvPr id="48" name="Rect"/>
          <p:cNvSpPr/>
          <p:nvPr/>
        </p:nvSpPr>
        <p:spPr>
          <a:xfrm xmlns:a="http://schemas.openxmlformats.org/drawingml/2006/main">
            <a:off x="720000" y="4500000"/>
            <a:ext cx="108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500000"/>
            <a:ext cx="1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400" b="1">
                <a:solidFill>
                  <a:srgbClr val="FFFFFF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000" y="4500000"/>
            <a:ext cx="93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333333"/>
                </a:solidFill>
                <a:latin typeface="맑은 고딕"/>
                <a:ea typeface="맑은 고딕"/>
              </a:rPr>
              <a:t>설치 완료</a:t>
            </a:r>
          </a:p>
        </p:txBody>
      </p:sp>
      <p:sp>
        <p:nvSpPr>
          <p:cNvPr id="5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000" y="5148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666666"/>
                </a:solidFill>
                <a:latin typeface="맑은 고딕"/>
                <a:ea typeface="맑은 고딕"/>
              </a:rPr>
              <a:t>설치가 완료되면 초기 설정 화면이
자동으로 표시됩니다.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초기 설정 ① — ERWEKA Export Manager</a:t>
            </a:r>
          </a:p>
        </p:txBody>
      </p:sp>
      <p:sp>
        <p:nvSpPr>
          <p:cNvPr id="5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0">
                <a:solidFill>
                  <a:srgbClr val="555555"/>
                </a:solidFill>
                <a:latin typeface="맑은 고딕"/>
                <a:ea typeface="맑은 고딕"/>
              </a:rPr>
              <a:t>설정 탭에서 ERWEKA Export Manager 감시 항목을 설정합니다.</a:t>
            </a:r>
          </a:p>
        </p:txBody>
      </p:sp>
      <p:graphicFrame>
        <p:nvGraphicFramePr>
          <p:cNvPr id="55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20000" y="1800000"/>
          <a:ext xmlns:a="http://schemas.openxmlformats.org/drawingml/2006/main" cx="10800000" cy="25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5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설정 항목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기본값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</a:tr>
              <a:tr h="5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이름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"가져오기" 버튼으로 실행 중인 프로그램에서 선택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javaw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구분 문자열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동일 이름 프로세스 구별 (예: Export Manager)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(비어 있음)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TCP 포트 감시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포트 응답 감시 (0 = 비활성)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체크 주기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감시 반복 간격 (10~300초)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30초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8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2563EB"/>
                </a:solidFill>
                <a:latin typeface="맑은 고딕"/>
                <a:ea typeface="맑은 고딕"/>
              </a:rPr>
              <a:t>TIP: "가져오기" 버튼을 클릭하면 현재 실행 중인 프로그램 목록에서 선택할 수 있습니다.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초기 설정 ② — TabmachineIF</a:t>
            </a:r>
          </a:p>
        </p:txBody>
      </p:sp>
      <p:sp>
        <p:nvSpPr>
          <p:cNvPr id="5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0">
                <a:solidFill>
                  <a:srgbClr val="555555"/>
                </a:solidFill>
                <a:latin typeface="맑은 고딕"/>
                <a:ea typeface="맑은 고딕"/>
              </a:rPr>
              <a:t>설정 탭에서 TabmachineIF 감시 및 재시작 항목을 설정합니다.</a:t>
            </a:r>
          </a:p>
        </p:txBody>
      </p:sp>
      <p:graphicFrame>
        <p:nvGraphicFramePr>
          <p:cNvPr id="60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20000" y="1800000"/>
          <a:ext xmlns:a="http://schemas.openxmlformats.org/drawingml/2006/main" cx="10800000" cy="27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설정 항목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기본값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</a:tr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이름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"가져오기" 버튼으로 선택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TabmachineIF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실행 파일 경로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"찾아보기"로 exe 경로 지정 (재시작에 필수!)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(비어 있음)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실행 인수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재시작 시 전달할 명령행 인수 (선택)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(비어 있음)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최대 재시작 횟수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연속 재시작 제한 (1~10회)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3회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체크 주기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감시 반복 간격 (10~300초)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30초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61" name="Rect"/>
          <p:cNvSpPr/>
          <p:nvPr/>
        </p:nvSpPr>
        <p:spPr>
          <a:xfrm xmlns:a="http://schemas.openxmlformats.org/drawingml/2006/main">
            <a:off x="720000" y="4860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5040000"/>
            <a:ext cx="100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DC2626"/>
                </a:solidFill>
                <a:latin typeface="맑은 고딕"/>
                <a:ea typeface="맑은 고딕"/>
              </a:rPr>
              <a:t>주의: 실행 파일 경로를 지정하지 않으면 감시만 수행되고 자동 재시작이 동작하지 않습니다!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상태 대시보드 사용법</a:t>
            </a:r>
          </a:p>
        </p:txBody>
      </p:sp>
      <p:sp>
        <p:nvSpPr>
          <p:cNvPr id="6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0">
                <a:solidFill>
                  <a:srgbClr val="555555"/>
                </a:solidFill>
                <a:latin typeface="맑은 고딕"/>
                <a:ea typeface="맑은 고딕"/>
              </a:rPr>
              <a:t>트레이 아이콘 더블클릭 또는 우클릭 → "상태 대시보드"로 열 수 있습니다.</a:t>
            </a:r>
          </a:p>
        </p:txBody>
      </p:sp>
      <p:sp>
        <p:nvSpPr>
          <p:cNvPr id="66" name="Rect"/>
          <p:cNvSpPr/>
          <p:nvPr/>
        </p:nvSpPr>
        <p:spPr>
          <a:xfrm xmlns:a="http://schemas.openxmlformats.org/drawingml/2006/main">
            <a:off x="720000" y="1800000"/>
            <a:ext cx="144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800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2563EB"/>
                </a:solidFill>
                <a:latin typeface="맑은 고딕"/>
                <a:ea typeface="맑은 고딕"/>
              </a:rPr>
              <a:t>상단 — 프로그램 상태 카드</a:t>
            </a:r>
          </a:p>
        </p:txBody>
      </p:sp>
      <p:sp>
        <p:nvSpPr>
          <p:cNvPr id="6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2268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555555"/>
                </a:solidFill>
                <a:latin typeface="맑은 고딕"/>
                <a:ea typeface="맑은 고딕"/>
              </a:rPr>
              <a:t>ERWEKA / TabmachineIF 각각의 상태를 색상과 텍스트로 표시
알람 건수, 재시작 횟수, 마지막 감지 시간 확인 가능</a:t>
            </a:r>
          </a:p>
        </p:txBody>
      </p:sp>
      <p:sp>
        <p:nvSpPr>
          <p:cNvPr id="69" name="Rect"/>
          <p:cNvSpPr/>
          <p:nvPr/>
        </p:nvSpPr>
        <p:spPr>
          <a:xfrm xmlns:a="http://schemas.openxmlformats.org/drawingml/2006/main">
            <a:off x="720000" y="3240000"/>
            <a:ext cx="144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3240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16A34A"/>
                </a:solidFill>
                <a:latin typeface="맑은 고딕"/>
                <a:ea typeface="맑은 고딕"/>
              </a:rPr>
              <a:t>중단 — PDF 폴더 감시</a:t>
            </a:r>
          </a:p>
        </p:txBody>
      </p:sp>
      <p:sp>
        <p:nvSpPr>
          <p:cNvPr id="7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3708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555555"/>
                </a:solidFill>
                <a:latin typeface="맑은 고딕"/>
                <a:ea typeface="맑은 고딕"/>
              </a:rPr>
              <a:t>ERWEKA가 생성하는 PDF 파일의 활동을 감시
유휴 경고, 백로그 경고 표시 (활성화 시에만 표시)</a:t>
            </a:r>
          </a:p>
        </p:txBody>
      </p:sp>
      <p:sp>
        <p:nvSpPr>
          <p:cNvPr id="72" name="Rect"/>
          <p:cNvSpPr/>
          <p:nvPr/>
        </p:nvSpPr>
        <p:spPr>
          <a:xfrm xmlns:a="http://schemas.openxmlformats.org/drawingml/2006/main">
            <a:off x="720000" y="4680000"/>
            <a:ext cx="144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4680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8B5CF6"/>
                </a:solidFill>
                <a:latin typeface="맑은 고딕"/>
                <a:ea typeface="맑은 고딕"/>
              </a:rPr>
              <a:t>하단 — 실시간 로그</a:t>
            </a:r>
          </a:p>
        </p:txBody>
      </p:sp>
      <p:sp>
        <p:nvSpPr>
          <p:cNvPr id="7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5148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555555"/>
                </a:solidFill>
                <a:latin typeface="맑은 고딕"/>
                <a:ea typeface="맑은 고딕"/>
              </a:rPr>
              <a:t>감시 엔진의 동작 로그를 실시간으로 스트리밍
INFO / WARN / ERROR 레벨별 표시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트레이 아이콘 &amp; 알림</a:t>
            </a:r>
          </a:p>
        </p:txBody>
      </p:sp>
      <p:sp>
        <p:nvSpPr>
          <p:cNvPr id="7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0">
                <a:solidFill>
                  <a:srgbClr val="555555"/>
                </a:solidFill>
                <a:latin typeface="맑은 고딕"/>
                <a:ea typeface="맑은 고딕"/>
              </a:rPr>
              <a:t>시스템 트레이(작업 표시줄 우하단)의 아이콘 색상으로 현재 상태를 확인할 수 있습니다.</a:t>
            </a:r>
          </a:p>
        </p:txBody>
      </p:sp>
      <p:graphicFrame>
        <p:nvGraphicFramePr>
          <p:cNvPr id="78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20000" y="1800000"/>
          <a:ext xmlns:a="http://schemas.openxmlformats.org/drawingml/2006/main" cx="10800000" cy="252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42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아이콘 색상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녹색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정상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모든 프로세스 정상 실행 중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조치 불필요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주황색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경고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이상 징후 감지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대시보드에서 상세 확인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파란색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재시작 중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자동 재시작 시도 중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잠시 대기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빨간색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복구 실패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재시작 실패 또는 프로세스 중지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수동 확인 필요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회색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비활성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감시 비활성 또는 초기화 중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잠시 대기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7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68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1">
                <a:solidFill>
                  <a:srgbClr val="333333"/>
                </a:solidFill>
                <a:latin typeface="맑은 고딕"/>
                <a:ea typeface="맑은 고딕"/>
              </a:rPr>
              <a:t>우클릭 메뉴: 상태 대시보드 / 로그 보기 / 설정 / 종료</a:t>
            </a:r>
          </a:p>
        </p:txBody>
      </p:sp>
      <p:sp>
        <p:nvSpPr>
          <p:cNvPr id="8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22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0">
                <a:solidFill>
                  <a:srgbClr val="DC2626"/>
                </a:solidFill>
                <a:latin typeface="맑은 고딕"/>
                <a:ea typeface="맑은 고딕"/>
              </a:rPr>
              <a:t>장애 발생 시 풍선 알림이 자동으로 표시됩니다 (5초간).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현장 문제 대응</a:t>
            </a:r>
          </a:p>
        </p:txBody>
      </p:sp>
      <p:sp>
        <p:nvSpPr>
          <p:cNvPr id="8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0">
                <a:solidFill>
                  <a:srgbClr val="555555"/>
                </a:solidFill>
                <a:latin typeface="맑은 고딕"/>
                <a:ea typeface="맑은 고딕"/>
              </a:rPr>
              <a:t>자주 발생하는 상황과 대응 방법입니다.</a:t>
            </a:r>
          </a:p>
        </p:txBody>
      </p:sp>
      <p:graphicFrame>
        <p:nvGraphicFramePr>
          <p:cNvPr id="84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20000" y="1800000"/>
          <a:ext xmlns:a="http://schemas.openxmlformats.org/drawingml/2006/main" cx="10800000" cy="275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5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증상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 방법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대응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</a:tr>
              <a:tr h="5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트레이 아이콘 빨간색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대시보드에서 상태 확인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대상 프로그램 수동 실행
IT 담당자에게 연락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풍선 알림 "복구 실패"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재시작 횟수 초과 확인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프로그램 수동 확인
로그 뷰어에서 이력 확인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아이콘 주황색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경고 상태 확인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대시보드에서 상세 메시지 확인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아이콘 회색 (지속)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감시 비활성 확인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잠시 대기
지속 시 IT 담당자에게 연락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C20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1800000"/>
            <a:ext cx="93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3600" b="1">
                <a:solidFill>
                  <a:srgbClr val="FFFFFF"/>
                </a:solidFill>
                <a:latin typeface="맑은 고딕"/>
                <a:ea typeface="맑은 고딕"/>
              </a:rPr>
              <a:t>IT 관리자 가이드</a:t>
            </a:r>
          </a:p>
        </p:txBody>
      </p:sp>
      <p:sp>
        <p:nvSpPr>
          <p:cNvPr id="8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324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/>
            <a:r>
              <a:rPr lang="ko-KR" sz="2000" b="0">
                <a:solidFill>
                  <a:srgbClr val="8C94A5"/>
                </a:solidFill>
                <a:latin typeface="맑은 고딕"/>
                <a:ea typeface="맑은 고딕"/>
              </a:rPr>
              <a:t>서비스 관리, 패치 배포, DB 알람 설정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Windows 서비스 관리</a:t>
            </a:r>
          </a:p>
        </p:txBody>
      </p:sp>
      <p:sp>
        <p:nvSpPr>
          <p:cNvPr id="89" name="Rect"/>
          <p:cNvSpPr/>
          <p:nvPr/>
        </p:nvSpPr>
        <p:spPr>
          <a:xfrm xmlns:a="http://schemas.openxmlformats.org/drawingml/2006/main">
            <a:off x="720000" y="1080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188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GUI (감시 프로그램)</a:t>
            </a:r>
          </a:p>
        </p:txBody>
      </p:sp>
      <p:sp>
        <p:nvSpPr>
          <p:cNvPr id="91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800000"/>
            <a:ext cx="432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트레이 아이콘 우클릭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"Windows 서비스 등록" 클릭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UAC 관리자 권한 승인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서비스 자동 등록 + 시작</a:t>
            </a:r>
          </a:p>
        </p:txBody>
      </p:sp>
      <p:sp>
        <p:nvSpPr>
          <p:cNvPr id="92" name="Rect"/>
          <p:cNvSpPr/>
          <p:nvPr/>
        </p:nvSpPr>
        <p:spPr>
          <a:xfrm xmlns:a="http://schemas.openxmlformats.org/drawingml/2006/main">
            <a:off x="6480000" y="1080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188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명령줄 (CMD/PowerShell)</a:t>
            </a:r>
          </a:p>
        </p:txBody>
      </p:sp>
      <p:sp>
        <p:nvSpPr>
          <p:cNvPr id="94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800000"/>
            <a:ext cx="432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등록:  InterfaceWatchDog.exe --install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해제:  InterfaceWatchDog.exe --uninstall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상태:  sc query InterfaceWatchDog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시작:  sc start InterfaceWatchDog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중지:  sc stop InterfaceWatchDog</a:t>
            </a:r>
          </a:p>
        </p:txBody>
      </p:sp>
      <p:sp>
        <p:nvSpPr>
          <p:cNvPr id="9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60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333333"/>
                </a:solidFill>
                <a:latin typeface="맑은 고딕"/>
                <a:ea typeface="맑은 고딕"/>
              </a:rPr>
              <a:t>서비스 특징</a:t>
            </a:r>
          </a:p>
        </p:txBody>
      </p:sp>
      <p:sp>
        <p:nvSpPr>
          <p:cNvPr id="96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140000"/>
            <a:ext cx="1080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부팅 시 자동 시작 (Automatic 타입)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설정 파일 변경 시 자동 반영 (FileSystemWatcher) — 서비스 재시작 불필요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config.json이 없으면 대기 상태 — 감시 프로그램에서 초기 설정 필요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DB 알람 설정 (SYS_ALARM)</a:t>
            </a:r>
          </a:p>
        </p:txBody>
      </p:sp>
      <p:sp>
        <p:nvSpPr>
          <p:cNvPr id="9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0">
                <a:solidFill>
                  <a:srgbClr val="555555"/>
                </a:solidFill>
                <a:latin typeface="맑은 고딕"/>
                <a:ea typeface="맑은 고딕"/>
              </a:rPr>
              <a:t>장애 발생 시 SQL Server SYS_ALARM 테이블에 자동으로 알람을 기록합니다.</a:t>
            </a:r>
          </a:p>
        </p:txBody>
      </p:sp>
      <p:sp>
        <p:nvSpPr>
          <p:cNvPr id="100" name="Rect"/>
          <p:cNvSpPr/>
          <p:nvPr/>
        </p:nvSpPr>
        <p:spPr>
          <a:xfrm xmlns:a="http://schemas.openxmlformats.org/drawingml/2006/main">
            <a:off x="720000" y="1800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872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333333"/>
                </a:solidFill>
                <a:latin typeface="Consolas"/>
                <a:ea typeface="Consolas"/>
              </a:rPr>
              <a:t>설정 파일:  %ProgramData%\InterfaceWatchDog\dbconfig.json</a:t>
            </a:r>
          </a:p>
        </p:txBody>
      </p:sp>
      <p:graphicFrame>
        <p:nvGraphicFramePr>
          <p:cNvPr id="102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20000" y="2700000"/>
          <a:ext xmlns:a="http://schemas.openxmlformats.org/drawingml/2006/main" cx="10800000" cy="24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4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예시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</a:tr>
              <a:tr h="4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Server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SQL Server 주소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192.168.1.100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Database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데이터베이스 이름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MES_DB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UserId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SQL 로그인 사용자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mes_user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Password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SQL 로그인 비밀번호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****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PlantCode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공장 코드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P01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0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22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1">
                <a:solidFill>
                  <a:srgbClr val="333333"/>
                </a:solidFill>
                <a:latin typeface="맑은 고딕"/>
                <a:ea typeface="맑은 고딕"/>
              </a:rPr>
              <a:t>알람 발생 조건</a:t>
            </a:r>
          </a:p>
        </p:txBody>
      </p:sp>
      <p:sp>
        <p:nvSpPr>
          <p:cNvPr id="104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688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DC2626"/>
                </a:solidFill>
                <a:latin typeface="맑은 고딕"/>
                <a:ea typeface="맑은 고딕"/>
              </a:rPr>
              <a:t>ERWEKA Export Manager 프로세스 중지 감지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DC2626"/>
                </a:solidFill>
                <a:latin typeface="맑은 고딕"/>
                <a:ea typeface="맑은 고딕"/>
              </a:rPr>
              <a:t>TabmachineIF 설정된 재시작 횟수 모두 소진 후 최종 실패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로그 관리</a:t>
            </a:r>
          </a:p>
        </p:txBody>
      </p:sp>
      <p:sp>
        <p:nvSpPr>
          <p:cNvPr id="10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333333"/>
                </a:solidFill>
                <a:latin typeface="맑은 고딕"/>
                <a:ea typeface="맑은 고딕"/>
              </a:rPr>
              <a:t>로그 뷰어 사용법</a:t>
            </a:r>
          </a:p>
        </p:txBody>
      </p:sp>
      <p:sp>
        <p:nvSpPr>
          <p:cNvPr id="108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620000"/>
            <a:ext cx="108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트레이 아이콘 우클릭 → "로그 보기" 클릭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좌측 달력에서 날짜 선택 → 해당 날짜 로그 표시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로그가 있는 날짜: 파란색 강조 표시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오늘 날짜: 빨간색 표시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"폴더 열기" 버튼으로 로그 파일 직접 접근</a:t>
            </a:r>
          </a:p>
        </p:txBody>
      </p:sp>
      <p:sp>
        <p:nvSpPr>
          <p:cNvPr id="10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24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800" b="1">
                <a:solidFill>
                  <a:srgbClr val="333333"/>
                </a:solidFill>
                <a:latin typeface="맑은 고딕"/>
                <a:ea typeface="맑은 고딕"/>
              </a:rPr>
              <a:t>로그 레벨</a:t>
            </a:r>
          </a:p>
        </p:txBody>
      </p:sp>
      <p:graphicFrame>
        <p:nvGraphicFramePr>
          <p:cNvPr id="110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20000" y="3780000"/>
          <a:ext xmlns:a="http://schemas.openxmlformats.org/drawingml/2006/main" cx="10800000" cy="18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레벨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색상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</a:tr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INFO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흰색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정상 동작 로그 (감시 시작, 프로세스 감지 등)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WARN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주황색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경고 (프로세스 미감지, 재시작 시도 등)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ERROR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빨간색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오류 (재시작 실패, DB 기록 실패 등)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1" name="Rect"/>
          <p:cNvSpPr/>
          <p:nvPr/>
        </p:nvSpPr>
        <p:spPr>
          <a:xfrm xmlns:a="http://schemas.openxmlformats.org/drawingml/2006/main">
            <a:off x="720000" y="5580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5652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333333"/>
                </a:solidFill>
                <a:latin typeface="Consolas"/>
                <a:ea typeface="Consolas"/>
              </a:rPr>
              <a:t>로그 파일:  %ProgramData%\InterfaceWatchDog\Logs\watchdog_YYYY-MM-DD.log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패치 배포</a:t>
            </a:r>
          </a:p>
        </p:txBody>
      </p:sp>
      <p:sp>
        <p:nvSpPr>
          <p:cNvPr id="1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500" b="0">
                <a:solidFill>
                  <a:srgbClr val="555555"/>
                </a:solidFill>
                <a:latin typeface="맑은 고딕"/>
                <a:ea typeface="맑은 고딕"/>
              </a:rPr>
              <a:t>서비스 중단 없이 실행 파일만 교체하여 업데이트할 수 있습니다.</a:t>
            </a:r>
          </a:p>
        </p:txBody>
      </p:sp>
      <p:sp>
        <p:nvSpPr>
          <p:cNvPr id="1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80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333333"/>
                </a:solidFill>
                <a:latin typeface="맑은 고딕"/>
                <a:ea typeface="맑은 고딕"/>
              </a:rPr>
              <a:t>패치 파일 구성</a:t>
            </a:r>
          </a:p>
        </p:txBody>
      </p:sp>
      <p:sp>
        <p:nvSpPr>
          <p:cNvPr id="117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2268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InterfaceWatchDog.exe  (업데이트된 실행 파일)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555555"/>
                </a:solidFill>
                <a:latin typeface="맑은 고딕"/>
                <a:ea typeface="맑은 고딕"/>
              </a:rPr>
              <a:t>apply_patch.ps1  (자동 배포 스크립트)</a:t>
            </a:r>
          </a:p>
        </p:txBody>
      </p:sp>
      <p:sp>
        <p:nvSpPr>
          <p:cNvPr id="118" name="Rect"/>
          <p:cNvSpPr/>
          <p:nvPr/>
        </p:nvSpPr>
        <p:spPr>
          <a:xfrm xmlns:a="http://schemas.openxmlformats.org/drawingml/2006/main">
            <a:off x="720000" y="3240000"/>
            <a:ext cx="43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240000"/>
            <a:ext cx="43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2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000" y="3240000"/>
            <a:ext cx="28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333333"/>
                </a:solidFill>
                <a:latin typeface="맑은 고딕"/>
                <a:ea typeface="맑은 고딕"/>
              </a:rPr>
              <a:t>관리자 PowerShell 열기</a:t>
            </a:r>
          </a:p>
        </p:txBody>
      </p:sp>
      <p:sp>
        <p:nvSpPr>
          <p:cNvPr id="12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0" y="3240000"/>
            <a:ext cx="68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>
                <a:solidFill>
                  <a:srgbClr val="666666"/>
                </a:solidFill>
                <a:latin typeface="맑은 고딕"/>
                <a:ea typeface="맑은 고딕"/>
              </a:rPr>
              <a:t>시작 → PowerShell → 관리자 권한으로 실행</a:t>
            </a:r>
          </a:p>
        </p:txBody>
      </p:sp>
      <p:sp>
        <p:nvSpPr>
          <p:cNvPr id="122" name="Rect"/>
          <p:cNvSpPr/>
          <p:nvPr/>
        </p:nvSpPr>
        <p:spPr>
          <a:xfrm xmlns:a="http://schemas.openxmlformats.org/drawingml/2006/main">
            <a:off x="720000" y="3960000"/>
            <a:ext cx="43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960000"/>
            <a:ext cx="43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000" y="3960000"/>
            <a:ext cx="28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333333"/>
                </a:solidFill>
                <a:latin typeface="맑은 고딕"/>
                <a:ea typeface="맑은 고딕"/>
              </a:rPr>
              <a:t>패치 폴더로 이동</a:t>
            </a:r>
          </a:p>
        </p:txBody>
      </p:sp>
      <p:sp>
        <p:nvSpPr>
          <p:cNvPr id="12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0" y="3960000"/>
            <a:ext cx="68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>
                <a:solidFill>
                  <a:srgbClr val="666666"/>
                </a:solidFill>
                <a:latin typeface="맑은 고딕"/>
                <a:ea typeface="맑은 고딕"/>
              </a:rPr>
              <a:t>cd &lt;패치 파일 경로&gt;</a:t>
            </a:r>
          </a:p>
        </p:txBody>
      </p:sp>
      <p:sp>
        <p:nvSpPr>
          <p:cNvPr id="126" name="Rect"/>
          <p:cNvSpPr/>
          <p:nvPr/>
        </p:nvSpPr>
        <p:spPr>
          <a:xfrm xmlns:a="http://schemas.openxmlformats.org/drawingml/2006/main">
            <a:off x="720000" y="4680000"/>
            <a:ext cx="43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680000"/>
            <a:ext cx="43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2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000" y="4680000"/>
            <a:ext cx="28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333333"/>
                </a:solidFill>
                <a:latin typeface="맑은 고딕"/>
                <a:ea typeface="맑은 고딕"/>
              </a:rPr>
              <a:t>스크립트 실행</a:t>
            </a:r>
          </a:p>
        </p:txBody>
      </p:sp>
      <p:sp>
        <p:nvSpPr>
          <p:cNvPr id="1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0" y="4680000"/>
            <a:ext cx="68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>
                <a:solidFill>
                  <a:srgbClr val="666666"/>
                </a:solidFill>
                <a:latin typeface="맑은 고딕"/>
                <a:ea typeface="맑은 고딕"/>
              </a:rPr>
              <a:t>.\apply_patch.ps1</a:t>
            </a:r>
          </a:p>
        </p:txBody>
      </p:sp>
      <p:sp>
        <p:nvSpPr>
          <p:cNvPr id="130" name="Rect"/>
          <p:cNvSpPr/>
          <p:nvPr/>
        </p:nvSpPr>
        <p:spPr>
          <a:xfrm xmlns:a="http://schemas.openxmlformats.org/drawingml/2006/main">
            <a:off x="720000" y="5400000"/>
            <a:ext cx="43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400000"/>
            <a:ext cx="43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3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000" y="5400000"/>
            <a:ext cx="28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333333"/>
                </a:solidFill>
                <a:latin typeface="맑은 고딕"/>
                <a:ea typeface="맑은 고딕"/>
              </a:rPr>
              <a:t>자동 처리</a:t>
            </a:r>
          </a:p>
        </p:txBody>
      </p:sp>
      <p:sp>
        <p:nvSpPr>
          <p:cNvPr id="13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0" y="5400000"/>
            <a:ext cx="68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>
                <a:solidFill>
                  <a:srgbClr val="666666"/>
                </a:solidFill>
                <a:latin typeface="맑은 고딕"/>
                <a:ea typeface="맑은 고딕"/>
              </a:rPr>
              <a:t>서비스 중지 → EXE 교체 → 서비스 재시작 (자동)</a:t>
            </a:r>
          </a:p>
        </p:txBody>
      </p:sp>
      <p:sp>
        <p:nvSpPr>
          <p:cNvPr id="13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612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16A34A"/>
                </a:solidFill>
                <a:latin typeface="맑은 고딕"/>
                <a:ea typeface="맑은 고딕"/>
              </a:rPr>
              <a:t>설정 파일과 로그는 유지됩니다 (덮어쓰기 없음).</a:t>
            </a:r>
          </a:p>
        </p:txBody>
      </p:sp>
    </p:spTree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설정 파일 구조</a:t>
            </a:r>
          </a:p>
        </p:txBody>
      </p:sp>
      <p:sp>
        <p:nvSpPr>
          <p:cNvPr id="137" name="Rect"/>
          <p:cNvSpPr/>
          <p:nvPr/>
        </p:nvSpPr>
        <p:spPr>
          <a:xfrm xmlns:a="http://schemas.openxmlformats.org/drawingml/2006/main">
            <a:off x="720000" y="1080000"/>
            <a:ext cx="504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188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1C2028"/>
                </a:solidFill>
                <a:latin typeface="Consolas"/>
                <a:ea typeface="Consolas"/>
              </a:rPr>
              <a:t>config.json</a:t>
            </a:r>
          </a:p>
        </p:txBody>
      </p:sp>
      <p:sp>
        <p:nvSpPr>
          <p:cNvPr id="139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800000"/>
            <a:ext cx="432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Erweka 설정</a:t>
            </a:r>
          </a:p>
          <a:p xmlns:a="http://schemas.openxmlformats.org/drawingml/2006/main">
            <a:pPr marL="914400" indent="-457200">
              <a:buFont typeface="Arial"/>
              <a:buChar char="–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프로세스 이름, 구분 문자열</a:t>
            </a:r>
          </a:p>
          <a:p xmlns:a="http://schemas.openxmlformats.org/drawingml/2006/main">
            <a:pPr marL="914400" indent="-457200">
              <a:buFont typeface="Arial"/>
              <a:buChar char="–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TCP 포트, 체크 주기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TabmachineIF 설정</a:t>
            </a:r>
          </a:p>
          <a:p xmlns:a="http://schemas.openxmlformats.org/drawingml/2006/main">
            <a:pPr marL="914400" indent="-457200">
              <a:buFont typeface="Arial"/>
              <a:buChar char="–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프로세스 이름, 실행 경로</a:t>
            </a:r>
          </a:p>
          <a:p xmlns:a="http://schemas.openxmlformats.org/drawingml/2006/main">
            <a:pPr marL="914400" indent="-457200">
              <a:buFont typeface="Arial"/>
              <a:buChar char="–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재시작 횟수, 쿨다운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PdfFolder 설정</a:t>
            </a:r>
          </a:p>
          <a:p xmlns:a="http://schemas.openxmlformats.org/drawingml/2006/main">
            <a:pPr marL="914400" indent="-457200">
              <a:buFont typeface="Arial"/>
              <a:buChar char="–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경로, 유휴/백로그 임계치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DbConnectionVerified 플래그</a:t>
            </a:r>
          </a:p>
        </p:txBody>
      </p:sp>
      <p:sp>
        <p:nvSpPr>
          <p:cNvPr id="140" name="Rect"/>
          <p:cNvSpPr/>
          <p:nvPr/>
        </p:nvSpPr>
        <p:spPr>
          <a:xfrm xmlns:a="http://schemas.openxmlformats.org/drawingml/2006/main">
            <a:off x="6480000" y="1080000"/>
            <a:ext cx="504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188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1C2028"/>
                </a:solidFill>
                <a:latin typeface="Consolas"/>
                <a:ea typeface="Consolas"/>
              </a:rPr>
              <a:t>dbconfig.json</a:t>
            </a:r>
          </a:p>
        </p:txBody>
      </p:sp>
      <p:sp>
        <p:nvSpPr>
          <p:cNvPr id="142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800000"/>
            <a:ext cx="432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Server (DB 서버 주소)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Database (DB 이름)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UserId (로그인 사용자)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Password (로그인 비밀번호)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PlantCode (공장 코드)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/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SYS_ALARM 테이블에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알람 INSERT 시 사용</a:t>
            </a:r>
          </a:p>
        </p:txBody>
      </p:sp>
      <p:sp>
        <p:nvSpPr>
          <p:cNvPr id="14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7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16A34A"/>
                </a:solidFill>
                <a:latin typeface="맑은 고딕"/>
                <a:ea typeface="맑은 고딕"/>
              </a:rPr>
              <a:t>서비스 핫리로드: 설정 파일 변경 시 FileSystemWatcher가 자동 감지 → 서비스 재시작 불필요</a:t>
            </a:r>
          </a:p>
        </p:txBody>
      </p:sp>
    </p:spTree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고급 문제 해결</a:t>
            </a:r>
          </a:p>
        </p:txBody>
      </p:sp>
      <p:graphicFrame>
        <p:nvGraphicFramePr>
          <p:cNvPr id="146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20000" y="1080000"/>
          <a:ext xmlns:a="http://schemas.openxmlformats.org/drawingml/2006/main" cx="1080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증상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해결 방법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</a:tr>
              <a:tr h="6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DB 알람 미기록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dbconfig.json 미설정
또는 연결 실패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dbconfig.json 확인
설정 → 연결 테스트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자동 재시작 안 됨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실행 파일 경로 미지정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config.json →
TabmachineIF.ExecutablePath 확인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서비스 시작 후 미동작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config.json 미생성
(최초 설치)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감시 프로그램 실행 →
초기 설정 완료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서비스 등록 실패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관리자 권한 부족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관리자 권한으로 실행
(UAC 승인)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포트 감시 오탐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방화벽 또는
네트워크 이슈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Port 값 확인
방화벽 규칙 점검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4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04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400" b="1">
                <a:solidFill>
                  <a:srgbClr val="333333"/>
                </a:solidFill>
                <a:latin typeface="Consolas"/>
                <a:ea typeface="Consolas"/>
              </a:rPr>
              <a:t>서비스 상태 확인:  sc query InterfaceWatchDog</a:t>
            </a:r>
          </a:p>
        </p:txBody>
      </p:sp>
    </p:spTree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Rect"/>
          <p:cNvSpPr/>
          <p:nvPr/>
        </p:nvSpPr>
        <p:spPr>
          <a:xfrm xmlns:a="http://schemas.openxmlformats.org/drawingml/2006/main">
            <a:off x="0" y="0"/>
            <a:ext cx="12192000" cy="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02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"/>
            <a:ext cx="10752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요약 &amp; 참고</a:t>
            </a:r>
          </a:p>
        </p:txBody>
      </p:sp>
      <p:sp>
        <p:nvSpPr>
          <p:cNvPr id="150" name="Rect"/>
          <p:cNvSpPr/>
          <p:nvPr/>
        </p:nvSpPr>
        <p:spPr>
          <a:xfrm xmlns:a="http://schemas.openxmlformats.org/drawingml/2006/main">
            <a:off x="720000" y="1080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188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2563EB"/>
                </a:solidFill>
                <a:latin typeface="맑은 고딕"/>
                <a:ea typeface="맑은 고딕"/>
              </a:rPr>
              <a:t>현장 운영자 핵심 포인트</a:t>
            </a:r>
          </a:p>
        </p:txBody>
      </p:sp>
      <p:sp>
        <p:nvSpPr>
          <p:cNvPr id="152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1728000"/>
            <a:ext cx="432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1E40AF"/>
                </a:solidFill>
                <a:latin typeface="맑은 고딕"/>
                <a:ea typeface="맑은 고딕"/>
              </a:rPr>
              <a:t>트레이 아이콘 색상으로 상태 확인 (녹색=정상)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1E40AF"/>
                </a:solidFill>
                <a:latin typeface="맑은 고딕"/>
                <a:ea typeface="맑은 고딕"/>
              </a:rPr>
              <a:t>빨간색이면 대상 프로그램 수동 확인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1E40AF"/>
                </a:solidFill>
                <a:latin typeface="맑은 고딕"/>
                <a:ea typeface="맑은 고딕"/>
              </a:rPr>
              <a:t>로그 뷰어로 이력 조회 가능</a:t>
            </a:r>
          </a:p>
        </p:txBody>
      </p:sp>
      <p:sp>
        <p:nvSpPr>
          <p:cNvPr id="153" name="Rect"/>
          <p:cNvSpPr/>
          <p:nvPr/>
        </p:nvSpPr>
        <p:spPr>
          <a:xfrm xmlns:a="http://schemas.openxmlformats.org/drawingml/2006/main">
            <a:off x="6480000" y="1080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9E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188000"/>
            <a:ext cx="43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IT 관리자 핵심 포인트</a:t>
            </a:r>
          </a:p>
        </p:txBody>
      </p:sp>
      <p:sp>
        <p:nvSpPr>
          <p:cNvPr id="155" name="Bulle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0" y="1728000"/>
            <a:ext cx="432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서비스 자동 시작 상태 확인 (sc query)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패치 배포: apply_patch.ps1 실행</a:t>
            </a:r>
          </a:p>
          <a:p xmlns:a="http://schemas.openxmlformats.org/drawingml/2006/main">
            <a:pPr marL="457200" indent="-457200">
              <a:buFont typeface="Arial"/>
              <a:buChar char="•"/>
            </a:pPr>
            <a:r>
              <a:rPr lang="ko-KR" sz="1400">
                <a:solidFill>
                  <a:srgbClr val="374151"/>
                </a:solidFill>
                <a:latin typeface="맑은 고딕"/>
                <a:ea typeface="맑은 고딕"/>
              </a:rPr>
              <a:t>DB 알람: dbconfig.json 연결 테스트 필수</a:t>
            </a:r>
          </a:p>
        </p:txBody>
      </p:sp>
      <p:sp>
        <p:nvSpPr>
          <p:cNvPr id="15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37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/>
            <a:r>
              <a:rPr lang="ko-KR" sz="1600" b="1">
                <a:solidFill>
                  <a:srgbClr val="333333"/>
                </a:solidFill>
                <a:latin typeface="맑은 고딕"/>
                <a:ea typeface="맑은 고딕"/>
              </a:rPr>
              <a:t>주요 경로 참고</a:t>
            </a:r>
          </a:p>
        </p:txBody>
      </p:sp>
      <p:graphicFrame>
        <p:nvGraphicFramePr>
          <p:cNvPr id="157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20000" y="4320000"/>
          <a:ext xmlns:a="http://schemas.openxmlformats.org/drawingml/2006/main" cx="10800000" cy="185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경로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</a:tr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설정 파일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%ProgramData%\InterfaceWatchDog\config.json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DB 설정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%ProgramData%\InterfaceWatchDog\dbconfig.json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로그 파일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%ProgramData%\InterfaceWatchDog\Logs\watchdog_YYYY-MM-DD.log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70000"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설치 경로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lang="ko-KR" sz="13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%ProgramFiles%\InterfaceWatchDog\</a:t>
                      </a:r>
                    </a:p>
                  </a:txBody>
                  <a:tcPr marL="91440" marR="91440" marT="45720" marB="45720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